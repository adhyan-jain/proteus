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2DD4BF"/>
              </a:solidFill>
            </c:spPr>
          </c:dPt>
          <c:dPt>
            <c:idx val="1"/>
            <c:spPr>
              <a:solidFill>
                <a:srgbClr val="F5B041"/>
              </a:solidFill>
            </c:spPr>
          </c:dPt>
          <c:cat>
            <c:strRef>
              <c:f>Sheet1!$A$2:$A$3</c:f>
              <c:strCache>
                <c:ptCount val="2"/>
                <c:pt idx="0">
                  <c:v>MAC-pair</c:v>
                </c:pt>
                <c:pt idx="1">
                  <c:v>Per-flow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18.0</c:v>
                </c:pt>
                <c:pt idx="1">
                  <c:v>10881.3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400">
                  <a:solidFill>
                    <a:srgbClr val="F1F5F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F1F5F9"/>
          </a:solidFill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DD4BF"/>
                </a:solidFill>
              </a:defRPr>
            </a:pPr>
            <a:r>
              <a:t>PROTEUS · SDN INTRUSION-DETECTION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1F5F9"/>
                </a:solidFill>
              </a:defRPr>
            </a:pPr>
            <a:r>
              <a:t>What an SDN Controller Can Actually Observe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9AA8BC"/>
                </a:solidFill>
              </a:defRPr>
            </a:pPr>
            <a:r>
              <a:t>A measurement and validity study of the InSDN OpenFlow control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1F5F9"/>
                </a:solidFill>
              </a:defRPr>
            </a:pPr>
            <a:r>
              <a:t>Adhyan Jain · Atharva Sheersh Pandey · Kshitij Manikshete</a:t>
            </a:r>
            <a:br/>
            <a:r>
              <a:t>VIT Vellore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Detectors are scored on data the controller never sees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108960" cy="128016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Benchmark CSV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flow features computed at the victim host (CICFlowMeter)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703320" y="2468880"/>
            <a:ext cx="868680" cy="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617720" y="1828800"/>
            <a:ext cx="2743200" cy="128016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Detector scored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99% accuracy reported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406640" y="2468880"/>
            <a:ext cx="868680" cy="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8321040" y="1828800"/>
            <a:ext cx="3291840" cy="128016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Called "controller-based"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global-view claim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31920"/>
            <a:ext cx="3108960" cy="128016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What the controller receives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PacketIn · FlowMod · flow statistics</a:t>
            </a:r>
          </a:p>
        </p:txBody>
      </p:sp>
      <p:sp>
        <p:nvSpPr>
          <p:cNvPr id="10" name="Diamond 9"/>
          <p:cNvSpPr/>
          <p:nvPr/>
        </p:nvSpPr>
        <p:spPr>
          <a:xfrm>
            <a:off x="4617720" y="3657600"/>
            <a:ext cx="2743200" cy="1828800"/>
          </a:xfrm>
          <a:prstGeom prst="diamond">
            <a:avLst/>
          </a:prstGeom>
          <a:solidFill>
            <a:srgbClr val="141E33"/>
          </a:solidFill>
          <a:ln w="254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87171"/>
                </a:solidFill>
              </a:defRPr>
            </a:pPr>
            <a:r>
              <a:t>Same thing?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Nobody checked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703320" y="4572000"/>
            <a:ext cx="868680" cy="0"/>
          </a:xfrm>
          <a:prstGeom prst="line">
            <a:avLst/>
          </a:prstGeom>
          <a:ln w="28575">
            <a:solidFill>
              <a:srgbClr val="F8717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989320" y="3154680"/>
            <a:ext cx="0" cy="457200"/>
          </a:xfrm>
          <a:prstGeom prst="line">
            <a:avLst/>
          </a:prstGeom>
          <a:ln w="28575">
            <a:solidFill>
              <a:srgbClr val="F8717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9AA8BC"/>
                </a:solidFill>
              </a:defRPr>
            </a:pPr>
            <a:r>
              <a:t>InSDN also recorded its controller's OpenFlow traffic. We opened those recordings.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What we did: one dataset, three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43200"/>
            <a:ext cx="2651760" cy="146304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44 controller captures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InSDN, ONOS, OpenFlow 1.3 · 11 benign, 33 attack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737360"/>
            <a:ext cx="3840480" cy="123444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Q1 Can it see the labelled flows?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read every FlowMod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3246120" y="2350008"/>
            <a:ext cx="1463040" cy="1124712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754880" y="3337560"/>
            <a:ext cx="3840480" cy="123444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Q2 Does the view depend on the forwarding app?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Mininet + Ryu, 3 modes, 65 runs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46120" y="3474720"/>
            <a:ext cx="1463040" cy="475488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754880" y="4937760"/>
            <a:ext cx="3840480" cy="123444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A78BFA"/>
                </a:solidFill>
              </a:defRPr>
            </a:pPr>
            <a:r>
              <a:t>Q3 Is a high score proof of detection?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controller-only models + trivial rule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46120" y="3474720"/>
            <a:ext cx="1463040" cy="2075688"/>
          </a:xfrm>
          <a:prstGeom prst="line">
            <a:avLst/>
          </a:prstGeom>
          <a:ln w="28575">
            <a:solidFill>
              <a:srgbClr val="A78BFA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641080" y="2350008"/>
            <a:ext cx="502920" cy="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89720" y="1737360"/>
            <a:ext cx="2468880" cy="123444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No: 0 of 3,827 FlowMods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41080" y="3950208"/>
            <a:ext cx="502920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89720" y="3337560"/>
            <a:ext cx="2468880" cy="123444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Yes: 847x more PacketIns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41080" y="5550408"/>
            <a:ext cx="502920" cy="0"/>
          </a:xfrm>
          <a:prstGeom prst="line">
            <a:avLst/>
          </a:prstGeom>
          <a:ln w="28575">
            <a:solidFill>
              <a:srgbClr val="A78BFA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89720" y="4937760"/>
            <a:ext cx="2468880" cy="123444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A78BFA"/>
                </a:solidFill>
              </a:defRPr>
            </a:pPr>
            <a:r>
              <a:t>No: trivial rule 0.995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GAP IN THE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Novelty 1 · The controller never saw the labelled flows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4754880" cy="155448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Dataset labels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source IP · destination IP · source port · destination port · protocol (5-tuple)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1828800"/>
            <a:ext cx="4754880" cy="155448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Controller's rules match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in_port · eth_src · eth_dst (MAC pair), or EtherType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349240" y="2606040"/>
            <a:ext cx="1463040" cy="0"/>
          </a:xfrm>
          <a:prstGeom prst="line">
            <a:avLst/>
          </a:prstGeom>
          <a:ln w="28575">
            <a:solidFill>
              <a:srgbClr val="F8717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0" y="21945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87171"/>
                </a:solidFill>
              </a:defRPr>
            </a:pPr>
            <a:r>
              <a:t>✕ no overlap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40480"/>
            <a:ext cx="3566160" cy="173736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3000" b="1">
                <a:solidFill>
                  <a:srgbClr val="F87171"/>
                </a:solidFill>
              </a:defRPr>
            </a:pPr>
            <a:r>
              <a:t>0 of 3,827</a:t>
            </a:r>
          </a:p>
          <a:p>
            <a:pPr algn="ctr">
              <a:defRPr sz="1400">
                <a:solidFill>
                  <a:srgbClr val="F1F5F9"/>
                </a:solidFill>
              </a:defRPr>
            </a:pPr>
            <a:r>
              <a:t>FlowMods carry IP or port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840480"/>
            <a:ext cx="3566160" cy="173736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3000" b="1">
                <a:solidFill>
                  <a:srgbClr val="2DD4BF"/>
                </a:solidFill>
              </a:defRPr>
            </a:pPr>
            <a:r>
              <a:t>3,811 + 16</a:t>
            </a:r>
          </a:p>
          <a:p>
            <a:pPr algn="ctr">
              <a:defRPr sz="1400">
                <a:solidFill>
                  <a:srgbClr val="F1F5F9"/>
                </a:solidFill>
              </a:defRPr>
            </a:pPr>
            <a:r>
              <a:t>MAC-pair + EtherType rules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840480"/>
            <a:ext cx="3566160" cy="173736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3000" b="1">
                <a:solidFill>
                  <a:srgbClr val="2DD4BF"/>
                </a:solidFill>
              </a:defRPr>
            </a:pPr>
            <a:r>
              <a:t>91 FlowMods</a:t>
            </a:r>
          </a:p>
          <a:p>
            <a:pPr algn="ctr">
              <a:defRPr sz="1400">
                <a:solidFill>
                  <a:srgbClr val="F1F5F9"/>
                </a:solidFill>
              </a:defRPr>
            </a:pPr>
            <a:r>
              <a:t>Ryu stock app: same, none with IP/ports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9AA8BC"/>
                </a:solidFill>
              </a:defRPr>
            </a:pPr>
            <a:r>
              <a:t>So: CSV-trained detectors do not describe a deployable controller-side detector.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MEASURED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Novelty 2 · The forwarding app decides what the controller sees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377440"/>
            <a:ext cx="2194560" cy="11887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9AA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9AA8BC"/>
                </a:solidFill>
              </a:defRPr>
            </a:pPr>
            <a:r>
              <a:t>Same benign traffic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10 runs per mode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737360"/>
            <a:ext cx="2377440" cy="100584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Ryu MAC-pair rules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3200400"/>
            <a:ext cx="2377440" cy="100584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Ryu per-flow rules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2788920" y="2286000"/>
            <a:ext cx="548640" cy="45720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88920" y="3200400"/>
            <a:ext cx="548640" cy="50292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806440" y="2240280"/>
            <a:ext cx="594360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806440" y="3703320"/>
            <a:ext cx="594360" cy="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446520" y="1737360"/>
            <a:ext cx="1920240" cy="100584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2600" b="1">
                <a:solidFill>
                  <a:srgbClr val="2DD4BF"/>
                </a:solidFill>
              </a:defRPr>
            </a:pPr>
            <a:r>
              <a:t>12.3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PacketIns / run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3200400"/>
            <a:ext cx="1920240" cy="100584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2600" b="1">
                <a:solidFill>
                  <a:srgbClr val="F5B041"/>
                </a:solidFill>
              </a:defRPr>
            </a:pPr>
            <a:r>
              <a:t>10,422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PacketIns / run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8686800" y="1645920"/>
          <a:ext cx="310896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686800" y="4251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AA8BC"/>
                </a:solidFill>
              </a:defRPr>
            </a:pPr>
            <a:r>
              <a:t>3-switch chain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46320"/>
            <a:ext cx="5303520" cy="100584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A78BFA"/>
                </a:solidFill>
              </a:defRPr>
            </a:pPr>
            <a:r>
              <a:t>Idle timeout 10 s → 2 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entries a 1 s poller sees: 153.1 → 36.9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4846320"/>
            <a:ext cx="5486400" cy="100584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2000" b="1">
                <a:solidFill>
                  <a:srgbClr val="F5B041"/>
                </a:solidFill>
              </a:defRPr>
            </a:pPr>
            <a:r>
              <a:t>847x more PacketIns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665x to 1,752x in every paired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VALIDITY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Novelty 3 · A high score is not proof of detection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2286000" cy="11430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Controller messages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PacketIn · FlowMod · stats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862072" y="2308860"/>
            <a:ext cx="448056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337560" y="1737360"/>
            <a:ext cx="2286000" cy="11430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1 s windows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22 features, 3 past windows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50992" y="2308860"/>
            <a:ext cx="448056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126479" y="1737360"/>
            <a:ext cx="2286000" cy="11430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MLP / XGBoost / logistic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unseen captures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439911" y="2308860"/>
            <a:ext cx="448057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915399" y="1737360"/>
            <a:ext cx="2286000" cy="11430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BAcc 0.946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looks strong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66160"/>
            <a:ext cx="3291840" cy="109728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87171"/>
                </a:solidFill>
              </a:defRPr>
            </a:pPr>
            <a:r>
              <a:t>Trivial rule: any IP PacketIn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scores 0.995 inside attack sessions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886200" y="4114800"/>
            <a:ext cx="868680" cy="0"/>
          </a:xfrm>
          <a:prstGeom prst="line">
            <a:avLst/>
          </a:prstGeom>
          <a:ln w="28575">
            <a:solidFill>
              <a:srgbClr val="F8717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Diamond 12"/>
          <p:cNvSpPr/>
          <p:nvPr/>
        </p:nvSpPr>
        <p:spPr>
          <a:xfrm>
            <a:off x="4800600" y="3383280"/>
            <a:ext cx="2743200" cy="1463040"/>
          </a:xfrm>
          <a:prstGeom prst="diamond">
            <a:avLst/>
          </a:prstGeom>
          <a:solidFill>
            <a:srgbClr val="141E33"/>
          </a:solidFill>
          <a:ln w="254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87171"/>
                </a:solidFill>
              </a:defRPr>
            </a:pPr>
            <a:r>
              <a:t>Is the score proof?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589520" y="4114800"/>
            <a:ext cx="822960" cy="0"/>
          </a:xfrm>
          <a:prstGeom prst="line">
            <a:avLst/>
          </a:prstGeom>
          <a:ln w="28575">
            <a:solidFill>
              <a:srgbClr val="F8717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589520" y="3822191"/>
            <a:ext cx="1188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87171"/>
                </a:solidFill>
              </a:defRPr>
            </a:pPr>
            <a:r>
              <a:t>NO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58200" y="3566160"/>
            <a:ext cx="3200400" cy="109728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Separate sessions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benign and attack recorded apart: it may be recognising the session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120640"/>
            <a:ext cx="11064240" cy="86868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Fix: benign and attack traffic mixed in one session, labels for all controller-visible traffic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9AA8BC"/>
                </a:solidFill>
              </a:defRPr>
            </a:pPr>
            <a:r>
              <a:t>XGBoost 0.952, logistic 0.961, MLP 0.958 (5 s): no model gain. Host-side CSV 0.9998: easy protocol.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METHOD AND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Novelty 4 and 5 · A caught pitfall, a rerunnable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B041"/>
                </a:solidFill>
              </a:defRPr>
            </a:pPr>
            <a:r>
              <a:t>Pitfall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377440" cy="11430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First test app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ping/ARP MAC-pair rules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53512" y="2583180"/>
            <a:ext cx="448056" cy="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429000" y="2011680"/>
            <a:ext cx="2377440" cy="11430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Rules shadow TCP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most connections skip the controller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833872" y="2583180"/>
            <a:ext cx="448056" cy="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309360" y="2011680"/>
            <a:ext cx="2377440" cy="11430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Effect looks 4x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wide interval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714232" y="2583180"/>
            <a:ext cx="448056" cy="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189720" y="2011680"/>
            <a:ext cx="2377440" cy="11430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Fixed app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847x, reported both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4903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DD4BF"/>
                </a:solidFill>
              </a:defRPr>
            </a:pPr>
            <a:r>
              <a:t>Reproducibility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14800"/>
            <a:ext cx="2377440" cy="11430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Hashed raw captures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SHA-256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53512" y="4686300"/>
            <a:ext cx="448056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429000" y="4114800"/>
            <a:ext cx="2377440" cy="11430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reproduce.sh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rebuilds every result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33872" y="4686300"/>
            <a:ext cx="448056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309360" y="4114800"/>
            <a:ext cx="2377440" cy="11430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compare_results.py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tolerance 1e-6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14232" y="4686300"/>
            <a:ext cx="448056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189720" y="4114800"/>
            <a:ext cx="2377440" cy="11430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verify_numbers.py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paper numbers vs 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Study architecture: what goes in, what comes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DD4BF"/>
                </a:solidFill>
              </a:defRPr>
            </a:pPr>
            <a:r>
              <a:t>A · InSDN captures (recorded, offline)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44 pcaps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in: ONOS TCP 6653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203703" y="2423160"/>
            <a:ext cx="201169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32304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Parser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out: PacketIn, FlowMod, stats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87368" y="2423160"/>
            <a:ext cx="201168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15968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Labels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CSV flow IDs → tag per PacketIn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71032" y="2423160"/>
            <a:ext cx="201168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199631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Windows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22 features per 1–5 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54695" y="2423160"/>
            <a:ext cx="201168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083296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History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88 inputs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738359" y="2423160"/>
            <a:ext cx="201169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966960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Models + tests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10 seeds, CI, trivial rule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429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B041"/>
                </a:solidFill>
              </a:defRPr>
            </a:pPr>
            <a:r>
              <a:t>B · Live forwarding study (no InSDN data)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49039"/>
            <a:ext cx="2377440" cy="11887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Ryu app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3 forwarding modes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53512" y="4343400"/>
            <a:ext cx="448056" cy="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429000" y="3749039"/>
            <a:ext cx="2377440" cy="11887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Mininet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1 or 3 switches, benign traffic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33872" y="4343400"/>
            <a:ext cx="448056" cy="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309360" y="3749039"/>
            <a:ext cx="2377440" cy="11887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Control-channel pcap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one per run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714232" y="4343400"/>
            <a:ext cx="448056" cy="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89720" y="3749039"/>
            <a:ext cx="2377440" cy="11887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Counts per mode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PacketIn, FlowMod, entries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257800"/>
            <a:ext cx="11064240" cy="7315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A78BFA"/>
                </a:solidFill>
              </a:defRPr>
            </a:pPr>
            <a:r>
              <a:t>Both end as results/*.json → tables in the paper</a:t>
            </a:r>
          </a:p>
          <a:p>
            <a:pPr algn="ctr">
              <a:defRPr sz="1200">
                <a:solidFill>
                  <a:srgbClr val="F1F5F9"/>
                </a:solidFill>
              </a:defRPr>
            </a:pPr>
            <a:r>
              <a:t>model input: 88 numbers about a few seconds of controller messages · output: attack / not attack per window · the CSV only supplies labels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HONEST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What is not new, what we did not do, what is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566160" cy="7315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2000" b="1">
                <a:solidFill>
                  <a:srgbClr val="F5B041"/>
                </a:solidFill>
              </a:defRPr>
            </a:pPr>
            <a:r>
              <a:t>Not new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834640"/>
            <a:ext cx="3566160" cy="868680"/>
          </a:xfrm>
          <a:prstGeom prst="roundRect">
            <a:avLst/>
          </a:prstGeom>
          <a:solidFill>
            <a:srgbClr val="0B1220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F5B041"/>
                </a:solidFill>
              </a:defRPr>
            </a:pPr>
            <a:r>
              <a:t>Control-plane telemetry for SDN IDS (LAN-SDN-NIDS, SDNFLow)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31720" y="2587752"/>
            <a:ext cx="0" cy="246888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3886200"/>
            <a:ext cx="3566160" cy="868680"/>
          </a:xfrm>
          <a:prstGeom prst="roundRect">
            <a:avLst/>
          </a:prstGeom>
          <a:solidFill>
            <a:srgbClr val="0B1220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F5B041"/>
                </a:solidFill>
              </a:defRPr>
            </a:pPr>
            <a:r>
              <a:t>The detector itself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31720" y="3703320"/>
            <a:ext cx="0" cy="18288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48640" y="4937760"/>
            <a:ext cx="3566160" cy="868680"/>
          </a:xfrm>
          <a:prstGeom prst="roundRect">
            <a:avLst/>
          </a:prstGeom>
          <a:solidFill>
            <a:srgbClr val="0B1220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F5B041"/>
                </a:solidFill>
              </a:defRPr>
            </a:pPr>
            <a:r>
              <a:t>Stock Ryu behaviour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31720" y="4754880"/>
            <a:ext cx="0" cy="18288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343400" y="1828800"/>
            <a:ext cx="3566160" cy="7315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2000" b="1">
                <a:solidFill>
                  <a:srgbClr val="F87171"/>
                </a:solidFill>
              </a:defRPr>
            </a:pPr>
            <a:r>
              <a:t>Not 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834640"/>
            <a:ext cx="3566160" cy="868680"/>
          </a:xfrm>
          <a:prstGeom prst="roundRect">
            <a:avLst/>
          </a:prstGeom>
          <a:solidFill>
            <a:srgbClr val="0B1220"/>
          </a:solidFill>
          <a:ln w="254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F87171"/>
                </a:solidFill>
              </a:defRPr>
            </a:pPr>
            <a:r>
              <a:t>Benign + attack traffic in one session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26480" y="2587752"/>
            <a:ext cx="0" cy="246888"/>
          </a:xfrm>
          <a:prstGeom prst="line">
            <a:avLst/>
          </a:prstGeom>
          <a:ln w="28575">
            <a:solidFill>
              <a:srgbClr val="F8717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343400" y="3886200"/>
            <a:ext cx="3566160" cy="868680"/>
          </a:xfrm>
          <a:prstGeom prst="roundRect">
            <a:avLst/>
          </a:prstGeom>
          <a:solidFill>
            <a:srgbClr val="0B1220"/>
          </a:solidFill>
          <a:ln w="254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F87171"/>
                </a:solidFill>
              </a:defRPr>
            </a:pPr>
            <a:r>
              <a:t>OpenDaylight / another dataset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26480" y="3703320"/>
            <a:ext cx="0" cy="182880"/>
          </a:xfrm>
          <a:prstGeom prst="line">
            <a:avLst/>
          </a:prstGeom>
          <a:ln w="28575">
            <a:solidFill>
              <a:srgbClr val="F8717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343400" y="4937760"/>
            <a:ext cx="3566160" cy="868680"/>
          </a:xfrm>
          <a:prstGeom prst="roundRect">
            <a:avLst/>
          </a:prstGeom>
          <a:solidFill>
            <a:srgbClr val="0B1220"/>
          </a:solidFill>
          <a:ln w="254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F87171"/>
                </a:solidFill>
              </a:defRPr>
            </a:pPr>
            <a:r>
              <a:t>A re-implemented published detector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26480" y="4754880"/>
            <a:ext cx="0" cy="182880"/>
          </a:xfrm>
          <a:prstGeom prst="line">
            <a:avLst/>
          </a:prstGeom>
          <a:ln w="28575">
            <a:solidFill>
              <a:srgbClr val="F8717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138160" y="1828800"/>
            <a:ext cx="3566160" cy="7315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2000" b="1">
                <a:solidFill>
                  <a:srgbClr val="2DD4BF"/>
                </a:solidFill>
              </a:defRPr>
            </a:pPr>
            <a:r>
              <a:t>Next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2834640"/>
            <a:ext cx="3566160" cy="868680"/>
          </a:xfrm>
          <a:prstGeom prst="roundRect">
            <a:avLst/>
          </a:prstGeom>
          <a:solidFill>
            <a:srgbClr val="0B1220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2DD4BF"/>
                </a:solidFill>
              </a:defRPr>
            </a:pPr>
            <a:r>
              <a:t>Interleave benign and attack in one session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921240" y="2587752"/>
            <a:ext cx="0" cy="246888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38160" y="3886200"/>
            <a:ext cx="3566160" cy="868680"/>
          </a:xfrm>
          <a:prstGeom prst="roundRect">
            <a:avLst/>
          </a:prstGeom>
          <a:solidFill>
            <a:srgbClr val="0B1220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2DD4BF"/>
                </a:solidFill>
              </a:defRPr>
            </a:pPr>
            <a:r>
              <a:t>Gap on a second controller family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921240" y="3703320"/>
            <a:ext cx="0" cy="18288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138160" y="4937760"/>
            <a:ext cx="3566160" cy="868680"/>
          </a:xfrm>
          <a:prstGeom prst="roundRect">
            <a:avLst/>
          </a:prstGeom>
          <a:solidFill>
            <a:srgbClr val="0B1220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2DD4BF"/>
                </a:solidFill>
              </a:defRPr>
            </a:pPr>
            <a:r>
              <a:t>In-fold oversampling for rare classes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921240" y="4754880"/>
            <a:ext cx="0" cy="18288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9AA8BC"/>
                </a:solidFill>
              </a:defRPr>
            </a:pPr>
            <a:r>
              <a:t>Venue: workshop / conference as is; lower-quartile journal after revision.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The earlier Proteus system: a prototype, not a claim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1627632" cy="11430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A78BFA"/>
                </a:solidFill>
              </a:defRPr>
            </a:pPr>
            <a:r>
              <a:t>SDN traffic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203703" y="2308860"/>
            <a:ext cx="201169" cy="0"/>
          </a:xfrm>
          <a:prstGeom prst="line">
            <a:avLst/>
          </a:prstGeom>
          <a:ln w="28575">
            <a:solidFill>
              <a:srgbClr val="A78BFA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432304" y="1737360"/>
            <a:ext cx="1627632" cy="11430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A78BFA"/>
                </a:solidFill>
              </a:defRPr>
            </a:pPr>
            <a:r>
              <a:t>Classify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random forest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87368" y="2308860"/>
            <a:ext cx="201168" cy="0"/>
          </a:xfrm>
          <a:prstGeom prst="line">
            <a:avLst/>
          </a:prstGeom>
          <a:ln w="28575">
            <a:solidFill>
              <a:srgbClr val="A78BFA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15968" y="1737360"/>
            <a:ext cx="1627632" cy="11430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A78BFA"/>
                </a:solidFill>
              </a:defRPr>
            </a:pPr>
            <a:r>
              <a:t>Drift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KS test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71032" y="2308860"/>
            <a:ext cx="201168" cy="0"/>
          </a:xfrm>
          <a:prstGeom prst="line">
            <a:avLst/>
          </a:prstGeom>
          <a:ln w="28575">
            <a:solidFill>
              <a:srgbClr val="A78BFA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199631" y="1737360"/>
            <a:ext cx="1627632" cy="11430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A78BFA"/>
                </a:solidFill>
              </a:defRPr>
            </a:pPr>
            <a:r>
              <a:t>WGAN-GP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synthetic attacks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54695" y="2308860"/>
            <a:ext cx="201168" cy="0"/>
          </a:xfrm>
          <a:prstGeom prst="line">
            <a:avLst/>
          </a:prstGeom>
          <a:ln w="28575">
            <a:solidFill>
              <a:srgbClr val="A78BFA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083296" y="1737360"/>
            <a:ext cx="1627632" cy="11430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A78BFA"/>
                </a:solidFill>
              </a:defRPr>
            </a:pPr>
            <a:r>
              <a:t>Fidelity gate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MMD check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738359" y="2308860"/>
            <a:ext cx="201169" cy="0"/>
          </a:xfrm>
          <a:prstGeom prst="line">
            <a:avLst/>
          </a:prstGeom>
          <a:ln w="28575">
            <a:solidFill>
              <a:srgbClr val="A78BFA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66960" y="1737360"/>
            <a:ext cx="1627632" cy="11430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A78BFA"/>
                </a:solidFill>
              </a:defRPr>
            </a:pPr>
            <a:r>
              <a:t>Retrain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redeploy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972800" y="2926080"/>
            <a:ext cx="0" cy="640080"/>
          </a:xfrm>
          <a:prstGeom prst="line">
            <a:avLst/>
          </a:prstGeom>
          <a:ln w="28575">
            <a:solidFill>
              <a:srgbClr val="A78BFA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463040" y="3566160"/>
            <a:ext cx="9509760" cy="0"/>
          </a:xfrm>
          <a:prstGeom prst="line">
            <a:avLst/>
          </a:prstGeom>
          <a:ln w="28575">
            <a:solidFill>
              <a:srgbClr val="A78BFA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463040" y="3273552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78BFA"/>
                </a:solidFill>
              </a:defRPr>
            </a:pPr>
            <a:r>
              <a:t>loop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5303520" cy="155448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Close prior work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NetGuard (2025): generative adaptation for drifting, imbalanced IDS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023360"/>
            <a:ext cx="5303520" cy="155448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87171"/>
                </a:solidFill>
              </a:defRPr>
            </a:pPr>
            <a:r>
              <a:t>Our own studies found no benefit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the demo's gain came from oracle labels, not synthetic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9AA8BC"/>
                </a:solidFill>
              </a:defRPr>
            </a:pPr>
            <a:r>
              <a:t>So the research contribution is the InSDN study. Proteus code is kept as context and a /old console.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Takeaways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11680"/>
            <a:ext cx="3566160" cy="237744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3000" b="1">
                <a:solidFill>
                  <a:srgbClr val="F5B041"/>
                </a:solidFill>
              </a:defRPr>
            </a:pPr>
            <a:r>
              <a:t>Gap</a:t>
            </a:r>
          </a:p>
          <a:p>
            <a:pPr algn="ctr">
              <a:defRPr sz="1600">
                <a:solidFill>
                  <a:srgbClr val="F1F5F9"/>
                </a:solidFill>
              </a:defRPr>
            </a:pPr>
            <a:r>
              <a:t>Controller rules never contained the labelled 5-tuples.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42232" y="3200400"/>
            <a:ext cx="246888" cy="0"/>
          </a:xfrm>
          <a:prstGeom prst="line">
            <a:avLst/>
          </a:prstGeom>
          <a:ln w="28575">
            <a:solidFill>
              <a:srgbClr val="9AA8BC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343400" y="2011680"/>
            <a:ext cx="3566160" cy="237744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3000" b="1">
                <a:solidFill>
                  <a:srgbClr val="2DD4BF"/>
                </a:solidFill>
              </a:defRPr>
            </a:pPr>
            <a:r>
              <a:t>Depends</a:t>
            </a:r>
          </a:p>
          <a:p>
            <a:pPr algn="ctr">
              <a:defRPr sz="1600">
                <a:solidFill>
                  <a:srgbClr val="F1F5F9"/>
                </a:solidFill>
              </a:defRPr>
            </a:pPr>
            <a:r>
              <a:t>What a controller sees depends on the forwarding app.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936992" y="3200400"/>
            <a:ext cx="246887" cy="0"/>
          </a:xfrm>
          <a:prstGeom prst="line">
            <a:avLst/>
          </a:prstGeom>
          <a:ln w="28575">
            <a:solidFill>
              <a:srgbClr val="9AA8BC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8138160" y="2011680"/>
            <a:ext cx="3566160" cy="237744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3000" b="1">
                <a:solidFill>
                  <a:srgbClr val="A78BFA"/>
                </a:solidFill>
              </a:defRPr>
            </a:pPr>
            <a:r>
              <a:t>Careful</a:t>
            </a:r>
          </a:p>
          <a:p>
            <a:pPr algn="ctr">
              <a:defRPr sz="1600">
                <a:solidFill>
                  <a:srgbClr val="F1F5F9"/>
                </a:solidFill>
              </a:defRPr>
            </a:pPr>
            <a:r>
              <a:t>On InSDN, controller-side scores are not detection accuracy.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9AA8BC"/>
                </a:solidFill>
              </a:defRPr>
            </a:pPr>
            <a:r>
              <a:t>Next: interleave benign and attack traffic in one session and test a second controller.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