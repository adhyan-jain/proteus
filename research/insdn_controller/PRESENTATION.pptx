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2DD4BF"/>
              </a:solidFill>
            </c:spPr>
          </c:dPt>
          <c:dPt>
            <c:idx val="1"/>
            <c:spPr>
              <a:solidFill>
                <a:srgbClr val="F5B041"/>
              </a:solidFill>
            </c:spPr>
          </c:dPt>
          <c:cat>
            <c:strRef>
              <c:f>Sheet1!$A$2:$A$3</c:f>
              <c:strCache>
                <c:ptCount val="2"/>
                <c:pt idx="0">
                  <c:v>MAC-pair</c:v>
                </c:pt>
                <c:pt idx="1">
                  <c:v>Per-flow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12.3</c:v>
                </c:pt>
                <c:pt idx="1">
                  <c:v>10422.0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4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F5B041"/>
              </a:solidFill>
            </c:spPr>
          </c:dPt>
          <c:dPt>
            <c:idx val="1"/>
            <c:spPr>
              <a:solidFill>
                <a:srgbClr val="2DD4BF"/>
              </a:solidFill>
            </c:spPr>
          </c:dPt>
          <c:dPt>
            <c:idx val="2"/>
            <c:spPr>
              <a:solidFill>
                <a:srgbClr val="F87171"/>
              </a:solidFill>
            </c:spPr>
          </c:dPt>
          <c:cat>
            <c:strRef>
              <c:f>Sheet1!$A$2:$A$4</c:f>
              <c:strCache>
                <c:ptCount val="3"/>
                <c:pt idx="0">
                  <c:v>PacketIn-rate
threshold</c:v>
                </c:pt>
                <c:pt idx="1">
                  <c:v>MLP</c:v>
                </c:pt>
                <c:pt idx="2">
                  <c:v>Trivial rule:
any IP PacketIn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4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DD4BF"/>
                </a:solidFill>
              </a:defRPr>
            </a:pPr>
            <a:r>
              <a:t>PROTEUS · SDN INTRUSION-DETECTION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What an SDN Controller Can Actually Observe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9AA8BC"/>
                </a:solidFill>
              </a:defRPr>
            </a:pPr>
            <a:r>
              <a:t>A measurement and validity study of the InSDN OpenFlow control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1F5F9"/>
                </a:solidFill>
              </a:defRPr>
            </a:pPr>
            <a:r>
              <a:t>Adhyan Jain · Atharva Sheersh Pandey · Kshitij Manikshete</a:t>
            </a:r>
            <a:br/>
            <a:r>
              <a:t>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SDN papers say the controller has a global view, so build the detector there.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But they test on CSV features computed at the victim host, then call it controller-based.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Nobody checked what the controller actually receives.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InSDN also recorded its controller's OpenFlow traffic. We opened those recordings.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What we did: 44 recordings, three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Q1  Can the controller see the flows the dataset labels?</a:t>
            </a:r>
          </a:p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Q2  Does what it sees depend on the forwarding app?  (Mininet + Ryu, 65 runs)</a:t>
            </a:r>
          </a:p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Q3  Is a high score on the controller's view proof of detection?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Data: 44 InSDN controller captures (11 benign, 33 attack) + our own Mininet/Ryu testbed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GAP IN THE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1 · The controller never saw the labelled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87171"/>
                </a:solidFill>
              </a:defRPr>
            </a:pPr>
            <a:r>
              <a:t>0 of 3,827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FlowMods carry IP addresses or 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828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2DD4BF"/>
                </a:solidFill>
              </a:defRPr>
            </a:pPr>
            <a: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971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FlowMods from Ryu's stock app: also MAC-pair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The dataset labels 5-tuple flows; the controller's rules only matched MAC pairs or EtherType.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So CSV-trained detectors are not controller-side detectors.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MEASURED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2 · The forwarding app decides what the controller sees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AA8BC"/>
                </a:solidFill>
              </a:defRPr>
            </a:pPr>
            <a:r>
              <a:t>TCP PacketIns per run (1 switch, 10 runs)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Same traffic: 847x more PacketIns with per-flow rules.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Holds on a 3-switch chain too.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A 2 s idle timeout hides most per-flow entries from a 1 s poller (153 to 37).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3 · A high score is not proof of detection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AA8BC"/>
                </a:solidFill>
              </a:defRPr>
            </a:pPr>
            <a:r>
              <a:t>Balanced accuracy, unseen captures, 1 s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A one-line rule beats the model inside attack sessions.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InSDN records benign and attack in separate sessions, so scores may reflect the session.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Fix: benign and attack traffic mixed in one session.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ABSTRACT-LEVEL CHECK, NOT A RE-RUN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How published InSDN results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500">
                <a:solidFill>
                  <a:srgbClr val="F1F5F9"/>
                </a:solidFill>
              </a:defRPr>
            </a:pPr>
            <a:r>
              <a:t>•  Intrusion detection in software defined network using deep learning approaches:  Transformer 99.02% (48 features); CNN-LSTM 99.01%, 99.19% with 6 features</a:t>
            </a:r>
          </a:p>
          <a:p>
            <a:pPr>
              <a:spcAft>
                <a:spcPts val="1600"/>
              </a:spcAft>
              <a:defRPr sz="1500">
                <a:solidFill>
                  <a:srgbClr val="F1F5F9"/>
                </a:solidFill>
              </a:defRPr>
            </a:pPr>
            <a:r>
              <a:t>•  A Hybrid CNN-LSTM Based Approach for Anomaly Detection Systems in SDNs:  96.32% accuracy</a:t>
            </a:r>
          </a:p>
          <a:p>
            <a:pPr>
              <a:spcAft>
                <a:spcPts val="1600"/>
              </a:spcAft>
              <a:defRPr sz="1500">
                <a:solidFill>
                  <a:srgbClr val="F1F5F9"/>
                </a:solidFill>
              </a:defRPr>
            </a:pPr>
            <a:r>
              <a:t>•  Early Detection of Intrusion in SDN:  Random forest 98.84% vs LSTM 85.31%</a:t>
            </a:r>
          </a:p>
          <a:p>
            <a:pPr>
              <a:spcAft>
                <a:spcPts val="1600"/>
              </a:spcAft>
              <a:defRPr sz="1500">
                <a:solidFill>
                  <a:srgbClr val="F1F5F9"/>
                </a:solidFill>
              </a:defRPr>
            </a:pPr>
            <a:r>
              <a:t>•  Securing IoT and SDN systems using deep-learning based automatic intrusion detection:  99.73% accuracy, 98.6% detection rate</a:t>
            </a:r>
          </a:p>
          <a:p>
            <a:pPr>
              <a:spcAft>
                <a:spcPts val="1600"/>
              </a:spcAft>
              <a:defRPr sz="1500">
                <a:solidFill>
                  <a:srgbClr val="F1F5F9"/>
                </a:solidFill>
              </a:defRPr>
            </a:pPr>
            <a:r>
              <a:t>•  Categorical Robustness Assessment for ML-based NIDS:  Random forest 99.98% accuracy; ARP spoofing fails (6 samples)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Our host-side run on the same CSV (random row split): 0.9998. Our controller view: 0.946.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We do not claim these papers are wrong: split protocols were not visible. We claim the benchmark cannot support a controller-side claim.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4 and 5 · A caught pitfall,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Our first test app let ping/ARP rules hide TCP: the effect looked like 4x instead of about 847x. We report both.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Overlapping coarse rules can understate controller load by two orders of magnitude.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One command rebuilds every result from hashed captures and checks the paper's numbers.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Study architecture: what goes in, what comes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A · InSDN captures (recorded, offline)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44 pcaps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in: ONOS TCP 6653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03703" y="2423160"/>
            <a:ext cx="201169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32304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Parser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out: PacketIn, FlowMod, stats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87368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15968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Labels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CSV flow IDs → tag per PacketIn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71032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99631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Windows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22 features per 1–5 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54695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83296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History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88 inputs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38359" y="2423160"/>
            <a:ext cx="201169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966960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Models + tests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10 seeds, CI, trivial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29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B041"/>
                </a:solidFill>
              </a:defRPr>
            </a:pPr>
            <a:r>
              <a:t>B · Live forwarding study (no InSDN data)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Ryu app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3 forwarding modes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5351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42900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Mininet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 or 3 switches, benign traffic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3387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0936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Control-channel pcap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one per run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1423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Counts per mode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PacketIn, FlowMod, entries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257800"/>
            <a:ext cx="11064240" cy="7315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Both end as results/*.json → tables in the paper</a:t>
            </a:r>
          </a:p>
          <a:p>
            <a:pPr algn="ctr">
              <a:defRPr sz="1200">
                <a:solidFill>
                  <a:srgbClr val="F1F5F9"/>
                </a:solidFill>
              </a:defRPr>
            </a:pPr>
            <a:r>
              <a:t>model input: 88 numbers about a few seconds of controller messages · output: attack / not attack per window · the CSV only supplies labels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What is not new, what we did not do, 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B041"/>
                </a:solidFill>
              </a:defRPr>
            </a:pPr>
            <a:r>
              <a:t>Not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Control-plane telemetry for SDN IDS (LAN-SDN-NIDS, SDNFLow)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The detector itself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Stock Ryu behaviour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59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7171"/>
                </a:solidFill>
              </a:defRPr>
            </a:pPr>
            <a:r>
              <a:t>Not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59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Benign + attack in one session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OpenDaylight or another dataset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A re-implemented published detector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DD4BF"/>
                </a:solidFill>
              </a:defRPr>
            </a:pPr>
            <a: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Interleave benign and attack traffic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Gap on a second controller family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In-fold oversampling for rare classes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Venue: workshop / conference as is; lower-quartile journal after revision.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The earlier Proteus system: a prototype, not a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Built: WGAN-GP synthetic attacks, KS drift test, MMD fidelity gate, drift-triggered retraining, versioned releases.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Close prior work exists (NetGuard 2025: generative adaptation for drifting, imbalanced IDS data).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Our own studies found no benefit from the generative step; the demo's gain came from oracle labels.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So the research contribution is the InSDN study; Proteus is kept as context (/old console).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The controller's rules never contained the labelled 5-tuples.</a:t>
            </a:r>
          </a:p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What a controller sees depends on the forwarding app.</a:t>
            </a:r>
          </a:p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On InSDN, controller-side scores are not detection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Next: interleave benign and attack traffic in one session; test a second controller.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