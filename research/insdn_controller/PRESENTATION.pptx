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2DD4BF"/>
              </a:solidFill>
            </c:spPr>
          </c:dPt>
          <c:dPt>
            <c:idx val="1"/>
            <c:spPr>
              <a:solidFill>
                <a:srgbClr val="F5B041"/>
              </a:solidFill>
            </c:spPr>
          </c:dPt>
          <c:cat>
            <c:strRef>
              <c:f>Sheet1!$A$2:$A$3</c:f>
              <c:strCache>
                <c:ptCount val="2"/>
                <c:pt idx="0">
                  <c:v>MAC-pair</c:v>
                </c:pt>
                <c:pt idx="1">
                  <c:v>Per-flow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12.3</c:v>
                </c:pt>
                <c:pt idx="1">
                  <c:v>10422.0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>
                  <a:solidFill>
                    <a:srgbClr val="F1F5F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F1F5F9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F5B041"/>
              </a:solidFill>
            </c:spPr>
          </c:dPt>
          <c:dPt>
            <c:idx val="1"/>
            <c:spPr>
              <a:solidFill>
                <a:srgbClr val="2DD4BF"/>
              </a:solidFill>
            </c:spPr>
          </c:dPt>
          <c:dPt>
            <c:idx val="2"/>
            <c:spPr>
              <a:solidFill>
                <a:srgbClr val="F87171"/>
              </a:solidFill>
            </c:spPr>
          </c:dPt>
          <c:cat>
            <c:strRef>
              <c:f>Sheet1!$A$2:$A$4</c:f>
              <c:strCache>
                <c:ptCount val="3"/>
                <c:pt idx="0">
                  <c:v>PacketIn-rate
threshold</c:v>
                </c:pt>
                <c:pt idx="1">
                  <c:v>MLP</c:v>
                </c:pt>
                <c:pt idx="2">
                  <c:v>Trivial rule:
any IP PacketIn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0.6162795240081537</c:v>
                </c:pt>
                <c:pt idx="1">
                  <c:v>0.9457905509126228</c:v>
                </c:pt>
                <c:pt idx="2">
                  <c:v>0.9953125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F1F5F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F1F5F9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BF"/>
                </a:solidFill>
              </a:defRPr>
            </a:pPr>
            <a:r>
              <a:t>PROTEUS · SDN INTRUSION-DETECTION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What an SDN Controller Can Actually Observe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9AA8BC"/>
                </a:solidFill>
              </a:defRPr>
            </a:pPr>
            <a:r>
              <a:t>A measurement and validity study of the InSDN OpenFlow control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1F5F9"/>
                </a:solidFill>
              </a:defRPr>
            </a:pPr>
            <a:r>
              <a:t>Adhyan Jain · Atharva Sheersh Pandey · Kshitij Manikshete</a:t>
            </a:r>
            <a:br/>
            <a:r>
              <a:t>VIT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Detectors are scored on data the controller never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1F5F9"/>
                </a:solidFill>
              </a:defRPr>
            </a:pPr>
            <a:r>
              <a:t>•  SDN papers say the controller has a global view, so build the detector there.</a:t>
            </a:r>
          </a:p>
          <a:p>
            <a:pPr>
              <a:spcAft>
                <a:spcPts val="1600"/>
              </a:spcAft>
              <a:defRPr sz="2200">
                <a:solidFill>
                  <a:srgbClr val="F1F5F9"/>
                </a:solidFill>
              </a:defRPr>
            </a:pPr>
            <a:r>
              <a:t>•  But they test on CSV features computed at the victim host, then call it controller-based.</a:t>
            </a:r>
          </a:p>
          <a:p>
            <a:pPr>
              <a:spcAft>
                <a:spcPts val="1600"/>
              </a:spcAft>
              <a:defRPr sz="2200">
                <a:solidFill>
                  <a:srgbClr val="F1F5F9"/>
                </a:solidFill>
              </a:defRPr>
            </a:pPr>
            <a:r>
              <a:t>•  Nobody checked what the controller actually receives.</a:t>
            </a:r>
          </a:p>
          <a:p>
            <a:pPr>
              <a:spcAft>
                <a:spcPts val="1600"/>
              </a:spcAft>
              <a:defRPr sz="2200">
                <a:solidFill>
                  <a:srgbClr val="F1F5F9"/>
                </a:solidFill>
              </a:defRPr>
            </a:pPr>
            <a:r>
              <a:t>•  InSDN also recorded its controller's OpenFlow traffic. We opened those recordings.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What we did: 44 recordings,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F1F5F9"/>
                </a:solidFill>
              </a:defRPr>
            </a:pPr>
            <a:r>
              <a:t>•  Q1  Can the controller see the flows the dataset labels?</a:t>
            </a:r>
          </a:p>
          <a:p>
            <a:pPr>
              <a:spcAft>
                <a:spcPts val="1600"/>
              </a:spcAft>
              <a:defRPr sz="2400">
                <a:solidFill>
                  <a:srgbClr val="F1F5F9"/>
                </a:solidFill>
              </a:defRPr>
            </a:pPr>
            <a:r>
              <a:t>•  Q2  Does what it sees depend on the forwarding app?  (Mininet + Ryu, 65 runs)</a:t>
            </a:r>
          </a:p>
          <a:p>
            <a:pPr>
              <a:spcAft>
                <a:spcPts val="1600"/>
              </a:spcAft>
              <a:defRPr sz="2400">
                <a:solidFill>
                  <a:srgbClr val="F1F5F9"/>
                </a:solidFill>
              </a:defRPr>
            </a:pPr>
            <a:r>
              <a:t>•  Q3  Is a high score on the controller's view proof of detection?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AA8BC"/>
                </a:solidFill>
              </a:defRPr>
            </a:pPr>
            <a:r>
              <a:t>Data: 44 InSDN controller captures (11 benign, 33 attack) + our own Mininet/Ryu testbed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GAP IN THE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Novelty 1 · The controller never saw the labelled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7171"/>
                </a:solidFill>
              </a:defRPr>
            </a:pPr>
            <a:r>
              <a:t>0 of 3,827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AA8BC"/>
                </a:solidFill>
              </a:defRPr>
            </a:pPr>
            <a:r>
              <a:t>FlowMods carry IP addresses or 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DD4BF"/>
                </a:solidFill>
              </a:defRPr>
            </a:pPr>
            <a: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971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AA8BC"/>
                </a:solidFill>
              </a:defRPr>
            </a:pPr>
            <a:r>
              <a:t>FlowMods from Ryu's stock app: also MAC-pair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The dataset labels 5-tuple flows; the controller's rules only matched MAC pairs or EtherType.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So CSV-trained detectors are not controller-side detectors.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MEASURED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Novelty 2 · The forwarding app decides what the controller sees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AA8BC"/>
                </a:solidFill>
              </a:defRPr>
            </a:pPr>
            <a:r>
              <a:t>TCP PacketIns per run (1 switch, 10 runs)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Same traffic: 847x more PacketIns with per-flow rules.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Holds on a 3-switch chain too.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A 2 s idle timeout hides most per-flow entries from a 1 s poller (153 to 37).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Novelty 3 · A high score is not proof of detection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AA8BC"/>
                </a:solidFill>
              </a:defRPr>
            </a:pPr>
            <a:r>
              <a:t>Balanced accuracy, unseen captures, 1 s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A one-line rule beats the model inside attack sessions.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InSDN records benign and attack in separate sessions, so scores may reflect the session.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Fix: benign and attack traffic mixed in one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FOUR PAPERS, ONE FULL TEXT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How published InSDN results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</a:defRPr>
            </a:pPr>
            <a:r>
              <a:t>•  Early Detection of Intrusion in SDN:  Random forest 98.84% vs LSTM 85.31%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</a:defRPr>
            </a:pPr>
            <a:r>
              <a:t>•  Intrusion detection in software defined network using deep learning approaches:  Transformer 99.02%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</a:defRPr>
            </a:pPr>
            <a:r>
              <a:t>•  A Hybrid CNN-LSTM Based Approach for Anomaly Detection Systems in SDNs:  96.32% accuracy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</a:defRPr>
            </a:pPr>
            <a:r>
              <a:t>•  Securing IoT and SDN systems using deep-learning based automatic intrusion detection:  99.73% accuracy, 98.6% detection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</a:defRPr>
            </a:pPr>
            <a:r>
              <a:t>•  Towhid et al. (full text read): 9 packet-derived features, all flows split 70:30, no grouping by capture or session mentioned.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</a:defRPr>
            </a:pPr>
            <a:r>
              <a:t>•  Our test, same classifier: random flow split 0.9998; held-out source hosts 0.907 ± 0.085; IPs and ports alone 1.000.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</a:defRPr>
            </a:pPr>
            <a:r>
              <a:t>•  Claimed: a random split overstates the score for unseen hosts by about 9 points. Not claimed: their exact numbers are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Novelty 4 and 5 · A caught pitfall, a rerunnable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1F5F9"/>
                </a:solidFill>
              </a:defRPr>
            </a:pPr>
            <a:r>
              <a:t>•  Our first test app let ping/ARP rules hide TCP: the effect looked like 4x instead of about 847x. We report both.</a:t>
            </a:r>
          </a:p>
          <a:p>
            <a:pPr>
              <a:spcAft>
                <a:spcPts val="1600"/>
              </a:spcAft>
              <a:defRPr sz="2200">
                <a:solidFill>
                  <a:srgbClr val="F1F5F9"/>
                </a:solidFill>
              </a:defRPr>
            </a:pPr>
            <a:r>
              <a:t>•  Overlapping coarse rules can understate controller load by two orders of magnitude.</a:t>
            </a:r>
          </a:p>
          <a:p>
            <a:pPr>
              <a:spcAft>
                <a:spcPts val="1600"/>
              </a:spcAft>
              <a:defRPr sz="2200">
                <a:solidFill>
                  <a:srgbClr val="F1F5F9"/>
                </a:solidFill>
              </a:defRPr>
            </a:pPr>
            <a:r>
              <a:t>•  One command rebuilds every result from hashed captures and checks the paper's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Study architecture: what goes in, what comes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A · InSDN captures (recorded, offline)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627632" cy="137160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44 pcaps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in: ONOS TCP 6653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03703" y="2423160"/>
            <a:ext cx="201169" cy="0"/>
          </a:xfrm>
          <a:prstGeom prst="line">
            <a:avLst/>
          </a:prstGeom>
          <a:ln w="28575">
            <a:solidFill>
              <a:srgbClr val="2DD4B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32304" y="1737360"/>
            <a:ext cx="1627632" cy="137160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Parser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out: PacketIn, FlowMod, stats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87368" y="2423160"/>
            <a:ext cx="201168" cy="0"/>
          </a:xfrm>
          <a:prstGeom prst="line">
            <a:avLst/>
          </a:prstGeom>
          <a:ln w="28575">
            <a:solidFill>
              <a:srgbClr val="2DD4B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15968" y="1737360"/>
            <a:ext cx="1627632" cy="137160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Labels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CSV flow IDs → tag per PacketIn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71032" y="2423160"/>
            <a:ext cx="201168" cy="0"/>
          </a:xfrm>
          <a:prstGeom prst="line">
            <a:avLst/>
          </a:prstGeom>
          <a:ln w="28575">
            <a:solidFill>
              <a:srgbClr val="2DD4B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99631" y="1737360"/>
            <a:ext cx="1627632" cy="137160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Windows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22 features per 1–5 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54695" y="2423160"/>
            <a:ext cx="201168" cy="0"/>
          </a:xfrm>
          <a:prstGeom prst="line">
            <a:avLst/>
          </a:prstGeom>
          <a:ln w="28575">
            <a:solidFill>
              <a:srgbClr val="2DD4B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83296" y="1737360"/>
            <a:ext cx="1627632" cy="137160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History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88 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38359" y="2423160"/>
            <a:ext cx="201169" cy="0"/>
          </a:xfrm>
          <a:prstGeom prst="line">
            <a:avLst/>
          </a:prstGeom>
          <a:ln w="28575">
            <a:solidFill>
              <a:srgbClr val="2DD4B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60" y="1737360"/>
            <a:ext cx="1627632" cy="137160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Models + tests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10 seeds, CI, trivial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B041"/>
                </a:solidFill>
              </a:defRPr>
            </a:pPr>
            <a:r>
              <a:t>B · Live forwarding study (no InSDN data)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49039"/>
            <a:ext cx="2377440" cy="118872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5B041"/>
                </a:solidFill>
              </a:defRPr>
            </a:pPr>
            <a:r>
              <a:t>Ryu app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3 forwarding modes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53512" y="4343400"/>
            <a:ext cx="448056" cy="0"/>
          </a:xfrm>
          <a:prstGeom prst="line">
            <a:avLst/>
          </a:prstGeom>
          <a:ln w="28575">
            <a:solidFill>
              <a:srgbClr val="F5B04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29000" y="3749039"/>
            <a:ext cx="2377440" cy="118872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5B041"/>
                </a:solidFill>
              </a:defRPr>
            </a:pPr>
            <a:r>
              <a:t>Mininet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1 or 3 switches, benign traffic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3872" y="4343400"/>
            <a:ext cx="448056" cy="0"/>
          </a:xfrm>
          <a:prstGeom prst="line">
            <a:avLst/>
          </a:prstGeom>
          <a:ln w="28575">
            <a:solidFill>
              <a:srgbClr val="F5B04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3749039"/>
            <a:ext cx="2377440" cy="118872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5B041"/>
                </a:solidFill>
              </a:defRPr>
            </a:pPr>
            <a:r>
              <a:t>Control-channel pcap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one per run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4232" y="4343400"/>
            <a:ext cx="448056" cy="0"/>
          </a:xfrm>
          <a:prstGeom prst="line">
            <a:avLst/>
          </a:prstGeom>
          <a:ln w="28575">
            <a:solidFill>
              <a:srgbClr val="F5B04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89720" y="3749039"/>
            <a:ext cx="2377440" cy="118872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5B041"/>
                </a:solidFill>
              </a:defRPr>
            </a:pPr>
            <a:r>
              <a:t>Counts per mode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PacketIn, FlowMod, entries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11064240" cy="73152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A78BFA"/>
                </a:solidFill>
              </a:defRPr>
            </a:pPr>
            <a:r>
              <a:t>Both end as results/*.json → tables in the paper</a:t>
            </a:r>
          </a:p>
          <a:p>
            <a:pPr algn="ctr">
              <a:defRPr sz="1200">
                <a:solidFill>
                  <a:srgbClr val="F1F5F9"/>
                </a:solidFill>
              </a:defRPr>
            </a:pPr>
            <a:r>
              <a:t>model input: 88 numbers about a few seconds of controller messages · output: attack / not attack per window · the CSV only supplies labels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HONEST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What is not new, what we did not do, 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B041"/>
                </a:solidFill>
              </a:defRPr>
            </a:pPr>
            <a:r>
              <a:t>Not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Control-plane telemetry for SDN IDS (LAN-SDN-NIDS, SDNFLow)</a:t>
            </a:r>
          </a:p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The detector itself</a:t>
            </a:r>
          </a:p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Stock Ryu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t>Not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46888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Benign + attack in one session</a:t>
            </a:r>
          </a:p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OpenDaylight or another dataset</a:t>
            </a:r>
          </a:p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A re-implemented published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D4BF"/>
                </a:solidFill>
              </a:defRPr>
            </a:pPr>
            <a: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6888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Interleave benign and attack traffic</a:t>
            </a:r>
          </a:p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Gap on a second controller family</a:t>
            </a:r>
          </a:p>
          <a:p>
            <a:pPr>
              <a:spcAft>
                <a:spcPts val="1600"/>
              </a:spcAft>
              <a:defRPr sz="1700">
                <a:solidFill>
                  <a:srgbClr val="F1F5F9"/>
                </a:solidFill>
              </a:defRPr>
            </a:pPr>
            <a:r>
              <a:t>•  In-fold oversampling for rare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8BC"/>
                </a:solidFill>
              </a:defRPr>
            </a:pPr>
            <a:r>
              <a:t>Venue: workshop / conference as is; lower-quartile journal after revision.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The earlier Proteus system: a prototype, not a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1F5F9"/>
                </a:solidFill>
              </a:defRPr>
            </a:pPr>
            <a:r>
              <a:t>•  Built: WGAN-GP synthetic attacks, KS drift test, MMD fidelity gate, drift-triggered retraining, versioned releases.</a:t>
            </a:r>
          </a:p>
          <a:p>
            <a:pPr>
              <a:spcAft>
                <a:spcPts val="1600"/>
              </a:spcAft>
              <a:defRPr sz="2100">
                <a:solidFill>
                  <a:srgbClr val="F1F5F9"/>
                </a:solidFill>
              </a:defRPr>
            </a:pPr>
            <a:r>
              <a:t>•  Close prior work exists (NetGuard 2025: generative adaptation for drifting, imbalanced IDS data).</a:t>
            </a:r>
          </a:p>
          <a:p>
            <a:pPr>
              <a:spcAft>
                <a:spcPts val="1600"/>
              </a:spcAft>
              <a:defRPr sz="2100">
                <a:solidFill>
                  <a:srgbClr val="F1F5F9"/>
                </a:solidFill>
              </a:defRPr>
            </a:pPr>
            <a:r>
              <a:t>•  Our own studies found no benefit from the generative step; the demo's gain came from oracle labels.</a:t>
            </a:r>
          </a:p>
          <a:p>
            <a:pPr>
              <a:spcAft>
                <a:spcPts val="1600"/>
              </a:spcAft>
              <a:defRPr sz="2100">
                <a:solidFill>
                  <a:srgbClr val="F1F5F9"/>
                </a:solidFill>
              </a:defRPr>
            </a:pPr>
            <a:r>
              <a:t>•  So the research contribution is the InSDN study; Proteus is kept as context (/old console).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F1F5F9"/>
                </a:solidFill>
              </a:defRPr>
            </a:pPr>
            <a:r>
              <a:t>•  The controller's rules never contained the labelled 5-tuples.</a:t>
            </a:r>
          </a:p>
          <a:p>
            <a:pPr>
              <a:spcAft>
                <a:spcPts val="1600"/>
              </a:spcAft>
              <a:defRPr sz="2600">
                <a:solidFill>
                  <a:srgbClr val="F1F5F9"/>
                </a:solidFill>
              </a:defRPr>
            </a:pPr>
            <a:r>
              <a:t>•  What a controller sees depends on the forwarding app.</a:t>
            </a:r>
          </a:p>
          <a:p>
            <a:pPr>
              <a:spcAft>
                <a:spcPts val="1600"/>
              </a:spcAft>
              <a:defRPr sz="2600">
                <a:solidFill>
                  <a:srgbClr val="F1F5F9"/>
                </a:solidFill>
              </a:defRPr>
            </a:pPr>
            <a:r>
              <a:t>•  On InSDN, controller-side scores are not detection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AA8BC"/>
                </a:solidFill>
              </a:defRPr>
            </a:pPr>
            <a:r>
              <a:t>Next: interleave benign and attack traffic in one session; test a second controller.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