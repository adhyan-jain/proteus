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FlowMods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0F766E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3,811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MAC pair</c:v>
                </c:pt>
                <c:pt idx="1">
                  <c:v>EtherType</c:v>
                </c:pt>
                <c:pt idx="2">
                  <c:v>IP / ports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3811</c:v>
                </c:pt>
                <c:pt idx="1">
                  <c:v>16</c:v>
                </c:pt>
                <c:pt idx="2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45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attack windows</c:v>
                </c:pt>
              </c:strCache>
            </c:strRef>
          </c:tx>
          <c:spPr>
            <a:solidFill>
              <a:srgbClr val="0F766E"/>
            </a:solidFill>
          </c:spPr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456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1,965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55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83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12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Sheet1!$A$2:$A$8</c:f>
              <c:strCache>
                <c:ptCount val="7"/>
                <c:pt idx="0">
                  <c:v>DoS</c:v>
                </c:pt>
                <c:pt idx="1">
                  <c:v>Probe</c:v>
                </c:pt>
                <c:pt idx="2">
                  <c:v>DDoS</c:v>
                </c:pt>
                <c:pt idx="3">
                  <c:v>Botnet</c:v>
                </c:pt>
                <c:pt idx="4">
                  <c:v>Web</c:v>
                </c:pt>
                <c:pt idx="5">
                  <c:v>Brute</c:v>
                </c:pt>
                <c:pt idx="6">
                  <c:v>Exploit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456</c:v>
                </c:pt>
                <c:pt idx="1">
                  <c:v>1965</c:v>
                </c:pt>
                <c:pt idx="2">
                  <c:v>55</c:v>
                </c:pt>
                <c:pt idx="3">
                  <c:v>83</c:v>
                </c:pt>
                <c:pt idx="4">
                  <c:v>12</c:v>
                </c:pt>
                <c:pt idx="5">
                  <c:v>6</c:v>
                </c:pt>
                <c:pt idx="6">
                  <c:v>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00.0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9CA3AF"/>
              </a:solidFill>
            </c:spPr>
          </c:dPt>
          <c:dPt>
            <c:idx val="2"/>
            <c:spPr>
              <a:solidFill>
                <a:srgbClr val="0F766E"/>
              </a:solidFill>
            </c:spPr>
          </c:dPt>
          <c:dPt>
            <c:idx val="3"/>
            <c:spPr>
              <a:solidFill>
                <a:srgbClr val="0F766E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0.616 ± 0.011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0.852 ± 0.029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0.939 ± 0.016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0.946 ± 0.016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PacketIn-rate
threshold</c:v>
                </c:pt>
                <c:pt idx="1">
                  <c:v>Source-IP entropy
threshold</c:v>
                </c:pt>
                <c:pt idx="2">
                  <c:v>Logistic</c:v>
                </c:pt>
                <c:pt idx="3">
                  <c:v>MLP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0.6162795240081537</c:v>
                </c:pt>
                <c:pt idx="1">
                  <c:v>0.8522967197417634</c:v>
                </c:pt>
                <c:pt idx="2">
                  <c:v>0.9390704741072581</c:v>
                </c:pt>
                <c:pt idx="3">
                  <c:v>0.9457905509126228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balanced accuracy</c:v>
                </c:pt>
              </c:strCache>
            </c:strRef>
          </c:tx>
          <c:spPr>
            <a:solidFill>
              <a:srgbClr val="0F766E"/>
            </a:solidFill>
          </c:spPr>
          <c:dPt>
            <c:idx val="0"/>
            <c:spPr>
              <a:solidFill>
                <a:srgbClr val="9CA3AF"/>
              </a:solidFill>
            </c:spPr>
          </c:dPt>
          <c:dPt>
            <c:idx val="1"/>
            <c:spPr>
              <a:solidFill>
                <a:srgbClr val="0F766E"/>
              </a:solidFill>
            </c:spPr>
          </c:dPt>
          <c:dPt>
            <c:idx val="2"/>
            <c:spPr>
              <a:solidFill>
                <a:srgbClr val="B91C1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0.616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0.946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pPr>
                      <a:defRPr sz="1300">
                        <a:solidFill>
                          <a:srgbClr val="111827"/>
                        </a:solidFill>
                        <a:latin typeface="Calibri"/>
                      </a:defRPr>
                    </a:pPr>
                    <a:r>
                      <a:t>0.995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PacketIn-rate
threshold</c:v>
                </c:pt>
                <c:pt idx="1">
                  <c:v>MLP</c:v>
                </c:pt>
                <c:pt idx="2">
                  <c:v>Trivial rule:
any IP PacketIn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0.6162795240081537</c:v>
                </c:pt>
                <c:pt idx="1">
                  <c:v>0.9457905509126228</c:v>
                </c:pt>
                <c:pt idx="2">
                  <c:v>0.9953125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1 switch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Sheet1!$A$2:$A$4</c:f>
              <c:strCache>
                <c:ptCount val="3"/>
                <c:pt idx="0">
                  <c:v>MAC-pair</c:v>
                </c:pt>
                <c:pt idx="1">
                  <c:v>Per-flow, 2 s idle</c:v>
                </c:pt>
                <c:pt idx="2">
                  <c:v>Per-flow, 10 s idle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12.3</c:v>
                </c:pt>
                <c:pt idx="1">
                  <c:v>10391.6</c:v>
                </c:pt>
                <c:pt idx="2">
                  <c:v>10422.0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3-switch chain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Sheet1!$A$2:$A$4</c:f>
              <c:strCache>
                <c:ptCount val="3"/>
                <c:pt idx="0">
                  <c:v>MAC-pair</c:v>
                </c:pt>
                <c:pt idx="1">
                  <c:v>Per-flow, 2 s idle</c:v>
                </c:pt>
                <c:pt idx="2">
                  <c:v>Per-flow, 10 s idle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18.0</c:v>
                </c:pt>
                <c:pt idx="1">
                  <c:v>10675.5</c:v>
                </c:pt>
                <c:pt idx="2">
                  <c:v>10881.3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max val="60000.0"/>
          <c:min val="1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InSDN</c:v>
                </c:pt>
              </c:strCache>
            </c:strRef>
          </c:tx>
          <c:spPr>
            <a:solidFill>
              <a:srgbClr val="0F766E"/>
            </a:solidFill>
          </c:spPr>
          <c:cat>
            <c:strRef>
              <c:f>Sheet1!$A$2:$A$4</c:f>
              <c:strCache>
                <c:ptCount val="3"/>
                <c:pt idx="0">
                  <c:v>Random flow split</c:v>
                </c:pt>
                <c:pt idx="1">
                  <c:v>Held-out source hosts</c:v>
                </c:pt>
                <c:pt idx="2">
                  <c:v>IP addresses and ports only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0.9998167871515384</c:v>
                </c:pt>
                <c:pt idx="1">
                  <c:v>0.9073805946404132</c:v>
                </c:pt>
                <c:pt idx="2">
                  <c:v>0.9999981848983543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CICIDS2017</c:v>
                </c:pt>
              </c:strCache>
            </c:strRef>
          </c:tx>
          <c:spPr>
            <a:solidFill>
              <a:srgbClr val="9CA3AF"/>
            </a:solidFill>
          </c:spPr>
          <c:cat>
            <c:strRef>
              <c:f>Sheet1!$A$2:$A$4</c:f>
              <c:strCache>
                <c:ptCount val="3"/>
                <c:pt idx="0">
                  <c:v>Random flow split</c:v>
                </c:pt>
                <c:pt idx="1">
                  <c:v>Held-out source hosts</c:v>
                </c:pt>
                <c:pt idx="2">
                  <c:v>IP addresses and ports only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0.991693753140841</c:v>
                </c:pt>
                <c:pt idx="1">
                  <c:v>0.6407584964613721</c:v>
                </c:pt>
                <c:pt idx="2">
                  <c:v>0.9999171559257845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300">
                  <a:solidFill>
                    <a:srgbClr val="111827"/>
                  </a:solidFill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1D5DB"/>
            </a:solidFill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15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200"/>
          </a:pPr>
        </a:p>
      </c:txPr>
    </c:legend>
    <c:dispBlanksAs val="gap"/>
  </c:chart>
  <c:txPr>
    <a:bodyPr/>
    <a:lstStyle/>
    <a:p>
      <a:pPr>
        <a:defRPr sz="1200">
          <a:solidFill>
            <a:srgbClr val="111827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737360"/>
            <a:ext cx="822960" cy="64008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200" b="1">
                <a:solidFill>
                  <a:srgbClr val="111827"/>
                </a:solidFill>
                <a:latin typeface="Calibri"/>
              </a:defRPr>
            </a:pPr>
            <a:r>
              <a:t>What an SDN Controller Can Actually Observe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5661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6B7280"/>
                </a:solidFill>
                <a:latin typeface="Calibri"/>
              </a:defRPr>
            </a:pPr>
            <a:r>
              <a:t>A measurement and validity study of the InSDN OpenFlow control channel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111827"/>
                </a:solidFill>
                <a:latin typeface="Calibri"/>
              </a:defRPr>
            </a:pPr>
            <a:r>
              <a:t>Adhyan Jain · Atharva Sheersh Pandey · Kshitij Manikshete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949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6B7280"/>
                </a:solidFill>
                <a:latin typeface="Calibri"/>
              </a:defRPr>
            </a:pPr>
            <a:r>
              <a:t>Vellore Institute of Technology, Vellore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Detectors are scored on data the controller never sees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SDN papers justify detection by the controller's global view.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They then evaluate on CSV features computed at the victim host.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Nobody checked what the controller actually receives.</a:t>
            </a:r>
          </a:p>
          <a:p>
            <a:pPr>
              <a:spcAft>
                <a:spcPts val="1600"/>
              </a:spcAft>
              <a:defRPr sz="1900">
                <a:solidFill>
                  <a:srgbClr val="111827"/>
                </a:solidFill>
                <a:latin typeface="Calibri"/>
              </a:defRPr>
            </a:pPr>
            <a:r>
              <a:t>InSDN also recorded its controller's OpenFlow traffic. We parsed all 44 of those captures.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828800"/>
            <a:ext cx="5212080" cy="1371600"/>
          </a:xfrm>
          <a:prstGeom prst="rect">
            <a:avLst/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What papers score on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CICFlowMeter 5-tuple flow records</a:t>
            </a:r>
            <a:br/>
            <a:r>
              <a:t>with 80+ statistics, computed at the target 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3840480"/>
            <a:ext cx="5212080" cy="137160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What a controller observes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PacketIn messages, FlowMod decisions,</a:t>
            </a:r>
            <a:br/>
            <a:r>
              <a:t>per-entry counters of the rules its app installed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324612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3400" b="1">
                <a:solidFill>
                  <a:srgbClr val="B91C1C"/>
                </a:solidFill>
                <a:latin typeface="Calibri"/>
              </a:defRPr>
            </a:pPr>
            <a:r>
              <a:t>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PRIMER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Background: how an OpenFlow controller sees traffic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9CA3A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Host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sends a packet</a:t>
            </a:r>
          </a:p>
        </p:txBody>
      </p:sp>
      <p:sp>
        <p:nvSpPr>
          <p:cNvPr id="7" name="Rectangle 6"/>
          <p:cNvSpPr/>
          <p:nvPr/>
        </p:nvSpPr>
        <p:spPr>
          <a:xfrm>
            <a:off x="493776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Switch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flow table of rules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0" y="2011680"/>
            <a:ext cx="2194560" cy="11887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Controller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ONOS or Ryu + forwarding app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779776" y="2606040"/>
            <a:ext cx="212140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7168896" y="2331720"/>
            <a:ext cx="221284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H="1">
            <a:off x="7168896" y="2880360"/>
            <a:ext cx="221284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223760" y="16002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PacketIn: table miss sends the packet's headers up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971800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100" b="0">
                <a:solidFill>
                  <a:srgbClr val="6B7280"/>
                </a:solidFill>
                <a:latin typeface="Calibri"/>
              </a:defRPr>
            </a:pPr>
            <a:r>
              <a:t>FlowMod / PacketOut: install a rule, release the packet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it receives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PacketIns for packets that miss the table, and packet and byte counters for the entries that exist.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decides the 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The forwarding app chooses the rules. Coarse rules (MAC pair) hide flows; per-flow rules expose them.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41148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0F766E"/>
                </a:solidFill>
                <a:latin typeface="Calibri"/>
              </a:defRPr>
            </a:pPr>
            <a:r>
              <a:t>What papers assume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4526280"/>
            <a:ext cx="3474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Per-flow statistics such as inter-arrival times and flag counts, which are not in this vocabulary.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Three questions, three kinds of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73152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Q1 · Can the controller see the labelled flows?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Parse all 44 ONOS captures. Read every FlowMod and flow-statistics reply and list the match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7, 8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52628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Q2 · Does the forwarding app change the view?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Mininet + Ryu, three forwarding modes, 10 runs each on 1 and 3 switches, plus Ryu's stock app.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11, 12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38160" y="1828800"/>
            <a:ext cx="3520440" cy="301752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3154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1">
                <a:solidFill>
                  <a:srgbClr val="0F766E"/>
                </a:solidFill>
                <a:latin typeface="Calibri"/>
              </a:defRPr>
            </a:pPr>
            <a:r>
              <a:t>Q3 · Is a high score proof of detection?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063240"/>
            <a:ext cx="3154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Controller-only models on unseen captures and attack families, against a trivial rule and different split protocols.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526280"/>
            <a:ext cx="3154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Slides 9, 10, 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3035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500" b="0">
                <a:solidFill>
                  <a:srgbClr val="6B7280"/>
                </a:solidFill>
                <a:latin typeface="Calibri"/>
              </a:defRPr>
            </a:pPr>
            <a:r>
              <a:t>Everything is measured on recorded or locally generated captures. No synthetic base data, no cloud, 10 seeds with 95% confidence intervals.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Two phases, one lesson: evaluation is the weak point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6B7280"/>
                </a:solidFill>
                <a:latin typeface="Calibri"/>
              </a:defRPr>
            </a:pPr>
            <a:r>
              <a:t>PHASE 1 · PROTEUS: DOZENS OF ARCHITECTURES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600200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PHASE 2 · INSDN VALIDITY STUDY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oracle labels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3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The 5.91x headline gain came from labels, not from synthetic data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0.000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2834639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Synthetic-dose controller vs plain adaptation: difference [0.000, 0.000], 10 seeds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7033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97.55% vs 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370332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Recall of a 9-feature model vs a zero-filled 77-feature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720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111827"/>
                </a:solidFill>
                <a:latin typeface="Calibri"/>
              </a:defRPr>
            </a:pPr>
            <a:r>
              <a:t>56% to 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360" y="457200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Drift alarms on unchanged traffic after adaptation (stale reference)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96596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0 of 3,827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325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FlowMods match IP addresses or ports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34639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0.995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2520" y="2834639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A one-line rule vs 0.946 for the MLP, inside attack sessions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70332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0F766E"/>
                </a:solidFill>
                <a:latin typeface="Calibri"/>
              </a:defRPr>
            </a:pPr>
            <a:r>
              <a:t>≈9 points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370332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Score inflation from a random flow split vs held-out source hosts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572000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1">
                <a:solidFill>
                  <a:srgbClr val="9CA3AF"/>
                </a:solidFill>
                <a:latin typeface="Calibri"/>
              </a:defRPr>
            </a:pPr>
            <a:r>
              <a:t>Then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457200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Split audit on InSDN and CICIDS2017, and a full read of 10 papers, 9 on InSDN (slides 13 to 14)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172200" y="1828800"/>
            <a:ext cx="0" cy="3383280"/>
          </a:xfrm>
          <a:prstGeom prst="line">
            <a:avLst/>
          </a:prstGeom>
          <a:ln w="12700">
            <a:solidFill>
              <a:srgbClr val="D1D5D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553212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1">
                <a:solidFill>
                  <a:srgbClr val="111827"/>
                </a:solidFill>
                <a:latin typeface="Calibri"/>
              </a:defRPr>
            </a:pPr>
            <a:r>
              <a:t>Strong-looking results kept dissolving under strict evaluation. We then measured the same failure in a published benchmark.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12648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0">
                <a:solidFill>
                  <a:srgbClr val="6B7280"/>
                </a:solidFill>
                <a:latin typeface="Calibri"/>
              </a:defRPr>
            </a:pPr>
            <a:r>
              <a:t>Phase 1 figures are quoted from archived study results (repository README), not re-run here.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Architecture: two evidence sources, one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A · RECORDED  (InSDN, offline)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44 pcaps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ONOS control channel</a:t>
            </a:r>
            <a:br/>
            <a:r>
              <a:t>11 benign · 33 attack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9397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246888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OpenFlow 1.3 parser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PacketIn · FlowMod · stats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14215" y="2240280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38912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Window labels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from InSDN CSV flow IDs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34455" y="2240280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30936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22 features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per 1 to 5 s window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85469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22960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History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88 model inputs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774936" y="2240280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10149840" y="169164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Models + baselines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10 seeds · 95% CI · trivial rule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31089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B · LIVE  (our testbed, no InSDN data)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Ryu app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3 forwarding modes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93976" y="3977639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246888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Mininet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1 or 3 switches</a:t>
            </a:r>
            <a:br/>
            <a:r>
              <a:t>benign traffic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014215" y="3977639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438912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Control pcap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one per run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934455" y="3977639"/>
            <a:ext cx="338329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30936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Counts per mode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PacketIn · FlowMod · entries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854696" y="3977639"/>
            <a:ext cx="338328" cy="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8229600" y="3429000"/>
            <a:ext cx="1508760" cy="10972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300" b="1">
                <a:solidFill>
                  <a:srgbClr val="111827"/>
                </a:solidFill>
                <a:latin typeface="Calibri"/>
              </a:defRPr>
            </a:pPr>
            <a:r>
              <a:t>Stock Ryu</a:t>
            </a:r>
          </a:p>
          <a:p>
            <a:pPr algn="ctr">
              <a:defRPr sz="1000">
                <a:solidFill>
                  <a:srgbClr val="6B7280"/>
                </a:solidFill>
                <a:latin typeface="Calibri"/>
              </a:defRPr>
            </a:pPr>
            <a:r>
              <a:t>second controller, 5 runs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8463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C · OUTPUT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166360"/>
            <a:ext cx="11109960" cy="868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118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results/*.json  →  tables and figures  →  paper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checked by compare_results.py (tolerance 1e-6) and verify_numbers.py · every capture SHA-256 hashed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904219" y="2834640"/>
            <a:ext cx="0" cy="228600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8983980" y="4572000"/>
            <a:ext cx="0" cy="548640"/>
          </a:xfrm>
          <a:prstGeom prst="line">
            <a:avLst/>
          </a:prstGeom>
          <a:ln w="19050">
            <a:solidFill>
              <a:srgbClr val="9CA3A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OBSERVABILITY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1 · The controller never saw the labelled 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B91C1C"/>
                </a:solidFill>
                <a:latin typeface="Calibri"/>
              </a:defRPr>
            </a:pPr>
            <a:r>
              <a:t>0 of 3,827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4937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FlowMods in the 44 captures match IP addresses or transport ports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035040" y="173736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50292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FlowMods by match 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72000"/>
            <a:ext cx="493776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400" b="0">
                <a:solidFill>
                  <a:srgbClr val="111827"/>
                </a:solidFill>
                <a:latin typeface="Calibri"/>
              </a:defRPr>
            </a:pPr>
            <a:r>
              <a:t>Ryu's stock learning switch agrees: 91 FlowMods in 5 captures, none with IP or transport fields. The dataset's 5-tuple flows are not counters a controller can read.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REPRODUCIBLE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2 · A pipeline from raw captures to labelled windows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8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852160" y="1645920"/>
          <a:ext cx="576072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52160" y="566928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Attack-labelled 1 s windows per family (strict labels)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828800"/>
            <a:ext cx="49377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OpenFlow 1.3 parser with reported parser loss.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Window labels grounded in InSDN's own flow labels.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22 controller-observable features, up to 88 inputs with history.</a:t>
            </a:r>
          </a:p>
          <a:p>
            <a:pPr>
              <a:spcAft>
                <a:spcPts val="1400"/>
              </a:spcAft>
              <a:defRPr sz="1700">
                <a:solidFill>
                  <a:srgbClr val="111827"/>
                </a:solidFill>
                <a:latin typeface="Calibri"/>
              </a:defRPr>
            </a:pPr>
            <a:r>
              <a:t>Labels cover only part of the controller-visible traffic, which matters on the next slides.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FEASIBILITY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3 · Controller-side models score high (0.95)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9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40080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 on unseen captures, 1 s windows, 10 seeds, 95%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1828800"/>
            <a:ext cx="4114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800" b="1">
                <a:solidFill>
                  <a:srgbClr val="0F766E"/>
                </a:solidFill>
                <a:latin typeface="Calibri"/>
              </a:defRPr>
            </a:pPr>
            <a:r>
              <a:t>0.89 to 1.00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788920"/>
            <a:ext cx="4114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MLP balanced accuracy on each of six withheld attack families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3749039"/>
            <a:ext cx="41148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Logistic regression matches the neural network.</a:t>
            </a:r>
          </a:p>
          <a:p>
            <a:pPr>
              <a:spcAft>
                <a:spcPts val="14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Offered as feasibility, not as a detector.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VALIDITY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4 · A one-line rule matches the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0350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accuracy, strict labels, 1 s windows (rule: inside attack sessions)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828800"/>
            <a:ext cx="46634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The rule scores 0.995 (1 s) and 1.000 (5 s) with no learning.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InSDN records benign and attack traffic in separate sessions, so a score can reflect the session, not the attack.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We do not claim a detector. We report a validity threat for controller-side evaluation on InSDN.</a:t>
            </a:r>
          </a:p>
          <a:p>
            <a:pPr>
              <a:spcAft>
                <a:spcPts val="1200"/>
              </a:spcAft>
              <a:defRPr sz="1600">
                <a:solidFill>
                  <a:srgbClr val="111827"/>
                </a:solidFill>
                <a:latin typeface="Calibri"/>
              </a:defRPr>
            </a:pPr>
            <a:r>
              <a:t>Fix: benign and attack traffic interleaved in one session.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FORWARDING 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5 · The forwarding app sets the 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760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TCP PacketIns per run, log scale, 10 runs per mode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79" y="1737360"/>
            <a:ext cx="3657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0F766E"/>
                </a:solidFill>
                <a:latin typeface="Calibri"/>
              </a:defRPr>
            </a:pPr>
            <a:r>
              <a:t>847×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6974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more PacketIns with per-flow rules on identical traffic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566160"/>
            <a:ext cx="36576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A 2 s idle timeout cuts the entries a 1 s poller sees from 153 to 37 per reply.</a:t>
            </a:r>
          </a:p>
          <a:p>
            <a:pPr>
              <a:spcAft>
                <a:spcPts val="10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Our first app let ping/ARP rules shadow TCP and showed 4×. We report both.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REPLICATION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 6 · A second controller and a rerunnable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5400" b="1">
                <a:solidFill>
                  <a:srgbClr val="0F766E"/>
                </a:solidFill>
                <a:latin typeface="Calibri"/>
              </a:defRPr>
            </a:pPr>
            <a:r>
              <a:t>91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5303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FlowMods from Ryu's unmodified simple_switch_13 in 5 captures: MAC pairs and table-miss only, no IP or ports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173736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Hashed captures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SHA-256 for every pcap used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278892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One command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reproduce.sh rebuilds every result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3840479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Automatic comparison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compare_results.py, tolerance 1e-6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4892040"/>
            <a:ext cx="5212080" cy="868680"/>
          </a:xfrm>
          <a:prstGeom prst="rect">
            <a:avLst/>
          </a:prstGeom>
          <a:solidFill>
            <a:srgbClr val="F3F4F6"/>
          </a:solidFill>
          <a:ln w="15875">
            <a:solidFill>
              <a:srgbClr val="0F76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defRPr sz="1400" b="1">
                <a:solidFill>
                  <a:srgbClr val="111827"/>
                </a:solidFill>
                <a:latin typeface="Calibri"/>
              </a:defRPr>
            </a:pPr>
            <a:r>
              <a:t>Number check</a:t>
            </a:r>
          </a:p>
          <a:p>
            <a:pPr algn="ctr">
              <a:defRPr sz="1100">
                <a:solidFill>
                  <a:srgbClr val="6B7280"/>
                </a:solidFill>
                <a:latin typeface="Calibri"/>
              </a:defRPr>
            </a:pPr>
            <a:r>
              <a:t>verify_numbers.py on the paper text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SPLIT-PROTOCOL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Random splits inflate scores: 9 points on InSDN, 35 on CICIDS2017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13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45920"/>
          <a:ext cx="69494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6692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defRPr sz="1200" b="0">
                <a:solidFill>
                  <a:srgbClr val="6B7280"/>
                </a:solidFill>
                <a:latin typeface="Calibri"/>
              </a:defRPr>
            </a:pPr>
            <a:r>
              <a:t>Balanced accuracy, GPU XGBoost, 10 seeds, benign vs attack. 343,889 / 2,100,814 flows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0" y="1645920"/>
            <a:ext cx="38404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000" b="1">
                <a:solidFill>
                  <a:srgbClr val="B91C1C"/>
                </a:solidFill>
                <a:latin typeface="Calibri"/>
              </a:defRPr>
            </a:pPr>
            <a:r>
              <a:t>49% / 20%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606040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6B7280"/>
                </a:solidFill>
                <a:latin typeface="Calibri"/>
              </a:defRPr>
            </a:pPr>
            <a:r>
              <a:t>of random-split test rows are exact duplicates of a training row (InSDN / CICIDS2017)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3657600"/>
            <a:ext cx="384048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Held-out hosts: 0.907 ± 0.085 (InSDN, worst seed 0.66), 0.641 ± 0.056 (CICIDS2017).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Identifiers alone reach 1.000 on both, so a random split rewards memorising hosts.</a:t>
            </a:r>
          </a:p>
          <a:p>
            <a:pPr>
              <a:spcAft>
                <a:spcPts val="800"/>
              </a:spcAft>
              <a:defRPr sz="1300">
                <a:solidFill>
                  <a:srgbClr val="111827"/>
                </a:solidFill>
                <a:latin typeface="Calibri"/>
              </a:defRPr>
            </a:pPr>
            <a:r>
              <a:t>Known already: Engelen 2021, Flood 2024. New: the paired gap with CIs on an SDN dataset.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PROTOCOL AUDIT OF THE LITERATURE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What published InSDN papers report vs how they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0876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554480"/>
                <a:gridCol w="2743200"/>
                <a:gridCol w="1828800"/>
                <a:gridCol w="256032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Paper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Reported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Split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Grouped by host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IDs / ports as inputs</a:t>
                      </a:r>
                    </a:p>
                  </a:txBody>
                  <a:tcPr marT="27432" marB="27432" anchor="ctr"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Towhid et al.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RF 98.84%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70:30, all flows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Ataa et al. 2024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99.02%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described (shuffled)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 (stated)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OptiXGB-IDS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99.87%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80:20 random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Ports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PeerJ CS 2025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99.93%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train_test_split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Sajid et al. 2025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99.98%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described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Dst Port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SDNGuardStack 2026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99.98%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80/20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B91C1C"/>
                          </a:solidFill>
                          <a:latin typeface="Calibri"/>
                        </a:defRPr>
                      </a:pPr>
                      <a:r>
                        <a:t>Flow ID, IPs, ports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Malik et al.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81.60% (CV)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Stratified 5-fold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LightIDS-SDN 2026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98.73%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Ratios 60:40 to 90:10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Not stated</a:t>
                      </a:r>
                    </a:p>
                  </a:txBody>
                  <a:tcPr marT="27432" marB="27432" anchor="ctr"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SICA 2026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99.61%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70/20/10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111827"/>
                          </a:solidFill>
                          <a:latin typeface="Calibri"/>
                        </a:defRPr>
                      </a:pPr>
                      <a:r>
                        <a:t>No (stated)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300" b="0">
                <a:solidFill>
                  <a:srgbClr val="6B7280"/>
                </a:solidFill>
                <a:latin typeface="Calibri"/>
              </a:defRPr>
            </a:pPr>
            <a:r>
              <a:t>10 of 12 papers read in full; the 2 unread ones are not characterised. Table: the 9 read papers that use InSDN (one more read paper is not on InSDN). Numbers are the authors' own, not re-run. None groups by host; none evaluates a real controller.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HONEST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Limitations we state ourselves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110642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Controller study: one dataset (InSDN) and one recorded controller (ONOS); Ryu is checked only on our own benign traffic.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We generated no attack traffic; benign and attack are never interleaved in one session.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Labels cover only part of the controller-visible traffic, so session identity and unlisted attacks cannot be separated.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Literature check: 10 of 12 papers read in full; the rest are not characterised. Reported numbers are the authors' own.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The split audit covers two datasets, one model family (XGBoost) and binary labels; UKMDDoSDN has no benign class and was unusable.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Phase 1 figures come from archived studies and are not re-run here.</a:t>
            </a:r>
          </a:p>
          <a:p>
            <a:pPr>
              <a:spcAft>
                <a:spcPts val="1400"/>
              </a:spcAft>
              <a:defRPr sz="1800">
                <a:solidFill>
                  <a:srgbClr val="111827"/>
                </a:solidFill>
                <a:latin typeface="Calibri"/>
              </a:defRPr>
            </a:pPr>
            <a:r>
              <a:t>Our literature search (October 2026) is evidence, not proof, that no one has measured this on an SDN dataset.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0F766E"/>
                </a:solidFill>
                <a:latin typeface="Calibri"/>
              </a:defRPr>
            </a:pPr>
            <a:r>
              <a:t>NOVELTY AND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11827"/>
                </a:solidFill>
                <a:latin typeface="Calibri"/>
              </a:defRPr>
            </a:pPr>
            <a:r>
              <a:t>Contributions: what is new and what is known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6B7280"/>
                </a:solidFill>
                <a:latin typeface="Calibri"/>
              </a:defRPr>
            </a:pPr>
            <a:r>
              <a:t>Proteus · What an SDN controller can observe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0" y="6446520"/>
            <a:ext cx="667512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000" b="0">
                <a:solidFill>
                  <a:srgbClr val="6B7280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6B7280"/>
                </a:solidFill>
                <a:latin typeface="Calibri"/>
              </a:defRPr>
            </a:pPr>
            <a:r>
              <a:t>Already known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377440"/>
            <a:ext cx="2606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Identifier columns are shortcut features (Engelen 2021)</a:t>
            </a:r>
          </a:p>
          <a:p>
            <a:pPr>
              <a:spcAft>
                <a:spcPts val="12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Random splits leak on NIDS data (Flood 2024)</a:t>
            </a:r>
          </a:p>
          <a:p>
            <a:pPr>
              <a:spcAft>
                <a:spcPts val="12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Control-plane telemetry for SDN IDS (LAN-SDN-NIDS, SDNFLow)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83280" y="1737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0F766E"/>
                </a:solidFill>
                <a:latin typeface="Calibri"/>
              </a:defRPr>
            </a:pPr>
            <a:r>
              <a:t>New 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606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Paired random vs host-held-out gap on InSDN and CICIDS2017, 10 seeds, CIs</a:t>
            </a:r>
          </a:p>
          <a:p>
            <a:pPr>
              <a:spcAft>
                <a:spcPts val="12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Audit of 9 published InSDN papers: none groups by host, none uses a real controller</a:t>
            </a:r>
          </a:p>
          <a:p>
            <a:pPr>
              <a:spcAft>
                <a:spcPts val="12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Controller-telemetry gap: 0 FlowMods with IPs or 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737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B91C1C"/>
                </a:solidFill>
                <a:latin typeface="Calibri"/>
              </a:defRPr>
            </a:pPr>
            <a:r>
              <a:t>Not done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0" y="2377440"/>
            <a:ext cx="2606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Interleaved benign and attack traffic in one session</a:t>
            </a:r>
          </a:p>
          <a:p>
            <a:pPr>
              <a:spcAft>
                <a:spcPts val="12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A second SDN dataset or controller family</a:t>
            </a:r>
          </a:p>
          <a:p>
            <a:pPr>
              <a:spcAft>
                <a:spcPts val="12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Unread InSDN papers not characterised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1737360"/>
            <a:ext cx="2651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1">
                <a:solidFill>
                  <a:srgbClr val="111827"/>
                </a:solidFill>
                <a:latin typeface="Calibri"/>
              </a:defRPr>
            </a:pPr>
            <a:r>
              <a:t>Takeaways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0" y="2377440"/>
            <a:ext cx="26060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Random-split scores on InSDN do not measure detection</a:t>
            </a:r>
          </a:p>
          <a:p>
            <a:pPr>
              <a:spcAft>
                <a:spcPts val="12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What a controller sees depends on the forwarding app</a:t>
            </a:r>
          </a:p>
          <a:p>
            <a:pPr>
              <a:spcAft>
                <a:spcPts val="1200"/>
              </a:spcAft>
              <a:defRPr sz="1400">
                <a:solidFill>
                  <a:srgbClr val="111827"/>
                </a:solidFill>
                <a:latin typeface="Calibri"/>
              </a:defRPr>
            </a:pPr>
            <a:r>
              <a:t>On InSDN, controller-side scores are not detection accuracy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