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7" r:id="rId28"/>
    <p:sldId id="274" r:id="rId25"/>
    <p:sldId id="262" r:id="rId13"/>
    <p:sldId id="266" r:id="rId17"/>
    <p:sldId id="268" r:id="rId19"/>
    <p:sldId id="271" r:id="rId22"/>
    <p:sldId id="273" r:id="rId24"/>
    <p:sldId id="269" r:id="rId20"/>
    <p:sldId id="270" r:id="rId21"/>
    <p:sldId id="272" r:id="rId23"/>
    <p:sldId id="276" r:id="rId27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FlowMods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0F766E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3,811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MAC pair</c:v>
                </c:pt>
                <c:pt idx="1">
                  <c:v>EtherType</c:v>
                </c:pt>
                <c:pt idx="2">
                  <c:v>IP / ports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3811</c:v>
                </c:pt>
                <c:pt idx="1">
                  <c:v>16</c:v>
                </c:pt>
                <c:pt idx="2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attack windows</c:v>
                </c:pt>
              </c:strCache>
            </c:strRef>
          </c:tx>
          <c:spPr>
            <a:solidFill>
              <a:srgbClr val="0F766E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456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1,965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55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83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DoS</c:v>
                </c:pt>
                <c:pt idx="1">
                  <c:v>Probe</c:v>
                </c:pt>
                <c:pt idx="2">
                  <c:v>DDoS</c:v>
                </c:pt>
                <c:pt idx="3">
                  <c:v>Botnet</c:v>
                </c:pt>
                <c:pt idx="4">
                  <c:v>Web</c:v>
                </c:pt>
                <c:pt idx="5">
                  <c:v>Brute</c:v>
                </c:pt>
                <c:pt idx="6">
                  <c:v>Exploit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456</c:v>
                </c:pt>
                <c:pt idx="1">
                  <c:v>1965</c:v>
                </c:pt>
                <c:pt idx="2">
                  <c:v>55</c:v>
                </c:pt>
                <c:pt idx="3">
                  <c:v>83</c:v>
                </c:pt>
                <c:pt idx="4">
                  <c:v>12</c:v>
                </c:pt>
                <c:pt idx="5">
                  <c:v>6</c:v>
                </c:pt>
                <c:pt idx="6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9CA3AF"/>
              </a:solidFill>
            </c:spPr>
          </c:dPt>
          <c:dPt>
            <c:idx val="2"/>
            <c:spPr>
              <a:solidFill>
                <a:srgbClr val="0F766E"/>
              </a:solidFill>
            </c:spPr>
          </c:dPt>
          <c:dPt>
            <c:idx val="3"/>
            <c:spPr>
              <a:solidFill>
                <a:srgbClr val="0F76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 ± 0.011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0.852 ± 0.029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0.939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PacketIn-rate
threshold</c:v>
                </c:pt>
                <c:pt idx="1">
                  <c:v>Source-IP entropy
threshold</c:v>
                </c:pt>
                <c:pt idx="2">
                  <c:v>Logistic</c:v>
                </c:pt>
                <c:pt idx="3">
                  <c:v>MLP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0.6162795240081537</c:v>
                </c:pt>
                <c:pt idx="1">
                  <c:v>0.8522967197417634</c:v>
                </c:pt>
                <c:pt idx="2">
                  <c:v>0.9390704741072581</c:v>
                </c:pt>
                <c:pt idx="3">
                  <c:v>0.9457905509126228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0.995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PacketIn-rate
threshold</c:v>
                </c:pt>
                <c:pt idx="1">
                  <c:v>MLP</c:v>
                </c:pt>
                <c:pt idx="2">
                  <c:v>Trivial rule:
any IP PacketIn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0.6162795240081537</c:v>
                </c:pt>
                <c:pt idx="1">
                  <c:v>0.9457905509126228</c:v>
                </c:pt>
                <c:pt idx="2">
                  <c:v>0.9953125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 switch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12.3</c:v>
                </c:pt>
                <c:pt idx="1">
                  <c:v>10391.6</c:v>
                </c:pt>
                <c:pt idx="2">
                  <c:v>10422.0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3-switch chain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18.0</c:v>
                </c:pt>
                <c:pt idx="1">
                  <c:v>10675.5</c:v>
                </c:pt>
                <c:pt idx="2">
                  <c:v>10881.3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max val="60000.0"/>
          <c:min val="1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InSDN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Sheet1!$A$2:$A$4</c:f>
              <c:strCache>
                <c:ptCount val="3"/>
                <c:pt idx="0">
                  <c:v>Random flow split</c:v>
                </c:pt>
                <c:pt idx="1">
                  <c:v>Held-out source hosts</c:v>
                </c:pt>
                <c:pt idx="2">
                  <c:v>IP addresses and ports only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0.9998167871515384</c:v>
                </c:pt>
                <c:pt idx="1">
                  <c:v>0.9073805946404132</c:v>
                </c:pt>
                <c:pt idx="2">
                  <c:v>0.9999981848983543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CICIDS2017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Sheet1!$A$2:$A$4</c:f>
              <c:strCache>
                <c:ptCount val="3"/>
                <c:pt idx="0">
                  <c:v>Random flow split</c:v>
                </c:pt>
                <c:pt idx="1">
                  <c:v>Held-out source hosts</c:v>
                </c:pt>
                <c:pt idx="2">
                  <c:v>IP addresses and ports only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0.991693753140841</c:v>
                </c:pt>
                <c:pt idx="1">
                  <c:v>0.6407584964613721</c:v>
                </c:pt>
                <c:pt idx="2">
                  <c:v>0.9999171559257845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Random split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Numeric flow features</c:v>
                </c:pt>
                <c:pt idx="1">
                  <c:v>Numeric + ports</c:v>
                </c:pt>
                <c:pt idx="2">
                  <c:v>All columns incl. IDs</c:v>
                </c:pt>
                <c:pt idx="3">
                  <c:v>Top-15 by mutual info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0.9991407136002792</c:v>
                </c:pt>
                <c:pt idx="1">
                  <c:v>0.9998342493239116</c:v>
                </c:pt>
                <c:pt idx="2">
                  <c:v>0.999922940475152</c:v>
                </c:pt>
                <c:pt idx="3">
                  <c:v>0.9998982232690686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Held-out source hosts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Sheet1!$A$2:$A$5</c:f>
              <c:strCache>
                <c:ptCount val="4"/>
                <c:pt idx="0">
                  <c:v>Numeric flow features</c:v>
                </c:pt>
                <c:pt idx="1">
                  <c:v>Numeric + ports</c:v>
                </c:pt>
                <c:pt idx="2">
                  <c:v>All columns incl. IDs</c:v>
                </c:pt>
                <c:pt idx="3">
                  <c:v>Top-15 by mutual info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0.7877265798306605</c:v>
                </c:pt>
                <c:pt idx="1">
                  <c:v>0.6869505545011194</c:v>
                </c:pt>
                <c:pt idx="2">
                  <c:v>0.8037272416576785</c:v>
                </c:pt>
                <c:pt idx="3">
                  <c:v>0.8351672108611826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Held-out host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B91C1C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0F766E"/>
              </a:solidFill>
            </c:spPr>
          </c:dPt>
          <c:dPt>
            <c:idx val="3"/>
            <c:spPr>
              <a:solidFill>
                <a:srgbClr val="B91C1C"/>
              </a:solidFill>
            </c:spPr>
          </c:dPt>
          <c:dPt>
            <c:idx val="4"/>
            <c:spPr>
              <a:solidFill>
                <a:srgbClr val="9CA3AF"/>
              </a:solidFill>
            </c:spPr>
          </c:dPt>
          <c:dPt>
            <c:idx val="5"/>
            <c:spPr>
              <a:solidFill>
                <a:srgbClr val="9CA3AF"/>
              </a:solidFill>
            </c:spPr>
          </c:dPt>
          <c:dPt>
            <c:idx val="6"/>
            <c:spPr>
              <a:solidFill>
                <a:srgbClr val="9CA3AF"/>
              </a:solidFill>
            </c:spPr>
          </c:dPt>
          <c:dPt>
            <c:idx val="7"/>
            <c:spPr>
              <a:solidFill>
                <a:srgbClr val="9CA3AF"/>
              </a:solidFill>
            </c:spPr>
          </c:dPt>
          <c:dPt>
            <c:idx val="8"/>
            <c:spPr>
              <a:solidFill>
                <a:srgbClr val="9CA3AF"/>
              </a:solidFill>
            </c:spPr>
          </c:dPt>
          <c:cat>
            <c:strRef>
              <c:f>Sheet1!$A$2:$A$10</c:f>
              <c:strCache>
                <c:ptCount val="9"/>
                <c:pt idx="0">
                  <c:v>200.175.2.130 (attack recall)</c:v>
                </c:pt>
                <c:pt idx="1">
                  <c:v>192.168.3.130 (attack recall)</c:v>
                </c:pt>
                <c:pt idx="2">
                  <c:v>192.168.20.134 (attack recall)</c:v>
                </c:pt>
                <c:pt idx="3">
                  <c:v>192.168.20.133 (benign FPR)</c:v>
                </c:pt>
                <c:pt idx="4">
                  <c:v>192.168.3.130 (benign FPR)</c:v>
                </c:pt>
                <c:pt idx="5">
                  <c:v>185.127.17.56 (benign FPR)</c:v>
                </c:pt>
                <c:pt idx="6">
                  <c:v>192.168.20.2 (benign FPR)</c:v>
                </c:pt>
                <c:pt idx="7">
                  <c:v>192.168.20.1 (benign FPR)</c:v>
                </c:pt>
                <c:pt idx="8">
                  <c:v>74.125.168.10 (benign FPR)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0.5162320959575447</c:v>
                </c:pt>
                <c:pt idx="1">
                  <c:v>0.9968684759916493</c:v>
                </c:pt>
                <c:pt idx="2">
                  <c:v>0.9380375293197811</c:v>
                </c:pt>
                <c:pt idx="3">
                  <c:v>0.37891801450083656</c:v>
                </c:pt>
                <c:pt idx="4">
                  <c:v>0.8333333333333334</c:v>
                </c:pt>
                <c:pt idx="5">
                  <c:v>0.0</c:v>
                </c:pt>
                <c:pt idx="6">
                  <c:v>0.0</c:v>
                </c:pt>
                <c:pt idx="7">
                  <c:v>0.18823529411764706</c:v>
                </c:pt>
                <c:pt idx="8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0F766E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Pt>
            <c:idx val="3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1.000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1.000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0.939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0.812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Random split</c:v>
                </c:pt>
                <c:pt idx="1">
                  <c:v>Random, deduplicated</c:v>
                </c:pt>
                <c:pt idx="2">
                  <c:v>Host-held-out, class-covered</c:v>
                </c:pt>
                <c:pt idx="3">
                  <c:v>Host-held-out, class-covered, deduplicated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0.9998167871515384</c:v>
                </c:pt>
                <c:pt idx="1">
                  <c:v>0.9997715901183806</c:v>
                </c:pt>
                <c:pt idx="2">
                  <c:v>0.9391899772037873</c:v>
                </c:pt>
                <c:pt idx="3">
                  <c:v>0.8119448415185637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737360"/>
            <a:ext cx="822960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400" b="1">
                <a:solidFill>
                  <a:srgbClr val="111827"/>
                </a:solidFill>
                <a:latin typeface="Calibri"/>
              </a:defRPr>
            </a:pPr>
            <a:r>
              <a:t>Evaluation Validity in SDN Intrusion Detection: Controller Observability and Held-Out-Host Generalization on InSDN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6B7280"/>
                </a:solidFill>
                <a:latin typeface="Calibri"/>
              </a:defRPr>
            </a:pPr>
            <a:r>
              <a:t>A measurement and evaluation-protocol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111827"/>
                </a:solidFill>
                <a:latin typeface="Calibri"/>
              </a:defRPr>
            </a:pPr>
            <a:r>
              <a:t>Adhyan Jain · Atharva Sheersh Pandey · Kshitij Manikshete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6B7280"/>
                </a:solidFill>
                <a:latin typeface="Calibri"/>
              </a:defRPr>
            </a:pPr>
            <a:r>
              <a:t>Vellore Institute of Technology,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Detectors are scored on data the controller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SDN papers justify detection by the controller's global view.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They then evaluate on CSV features computed at the victim host.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Nobody checked what the controller actually receives.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InSDN also recorded its controller's OpenFlow traffic. We parsed all 44 of those captures.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papers score 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CICFlowMeter 5-tuple flow records</a:t>
            </a:r>
            <a:br/>
            <a:r>
              <a:t>with 80+ statistics, computed at the target 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84048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a controller observes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PacketIn messages, FlowMod decisions,</a:t>
            </a:r>
            <a:br/>
            <a:r>
              <a:t>per-entry counters of the rules its app installed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B91C1C"/>
                </a:solidFill>
                <a:latin typeface="Calibri"/>
              </a:defRPr>
            </a:pPr>
            <a:r>
              <a:t>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Background: how an OpenFlow controller sees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Host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sends a packet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Switch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flow table of rules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Controller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ONOS or Ryu + forwarding app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9776" y="2606040"/>
            <a:ext cx="212140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68896" y="233172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168896" y="288036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23760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PacketIn: table miss sends the packet's headers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9718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FlowMod / PacketOut: install a rule, release the packet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it receives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PacketIns for packets that miss the table, and packet and byte counters for the entries that exist.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decides the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The forwarding app chooses the rules. Coarse rules (MAC pair) hide flows; per-flow rules expose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papers assume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Per-flow statistics such as inter-arrival times and flag counts, which are not in this vocabulary.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Three questions, three kinds of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Q1 · Can the controller see the labelled flows?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Parse all 44 ONOS captures. Read every FlowMod and flow-statistics reply and list the match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7,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Q2 · Does the forwarding app change the view?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Mininet + Ryu, three forwarding modes, 10 runs each on 1 and 3 switches, plus Ryu's stock app.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11,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Q3 · Is a high score proof of detection?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Controller-only models on unseen captures and attack families, against a trivial rule and different split protocols.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9, 10, 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6B7280"/>
                </a:solidFill>
                <a:latin typeface="Calibri"/>
              </a:defRPr>
            </a:pPr>
            <a:r>
              <a:t>Everything is measured on recorded or locally generated captures. No synthetic base data, no cloud, 10 seeds with 95% confidence intervals.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Two phases, one lesson: evaluation is the weak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6B7280"/>
                </a:solidFill>
                <a:latin typeface="Calibri"/>
              </a:defRPr>
            </a:pPr>
            <a:r>
              <a:t>PHASE 1 · PROTEUS: DOZENS OF ARCHITECTURES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PHASE 2 · INSDN VALIDITY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oracle labels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The 5.91x headline gain came from labels, not from synthetic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0.000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3463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Synthetic-dose controller vs plain adaptation: difference [0.000, 0.000], 10 seeds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97.55% vs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70332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Recall of a 9-feature model vs a zero-filled 77-feature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56% to 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57200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Drift alarms on unchanged traffic after adaptation (stale reference)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FlowMods match IP addresses or 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0.995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834639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A one-line rule vs 0.946 for the MLP, inside attack sessions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≈9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70332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Score inflation from a random flow split vs held-out source hosts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9CA3AF"/>
                </a:solidFill>
                <a:latin typeface="Calibri"/>
              </a:defRPr>
            </a:pPr>
            <a:r>
              <a:t>Then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4572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Split audit on InSDN and CICIDS2017, and a full read of 10 papers, 9 on InSDN (slides 13 to 16)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172200" y="1828800"/>
            <a:ext cx="0" cy="3383280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111827"/>
                </a:solidFill>
                <a:latin typeface="Calibri"/>
              </a:defRPr>
            </a:pPr>
            <a:r>
              <a:t>Strong-looking results kept dissolving under strict evaluation. We then measured the same failure in a published benchmark.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6B7280"/>
                </a:solidFill>
                <a:latin typeface="Calibri"/>
              </a:defRPr>
            </a:pPr>
            <a:r>
              <a:t>Phase 1 figures are quoted from archived study results (repository README), not re-run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Architecture: two evidence sources, one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 · RECORDED  (InSDN, offline)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44 pcaps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ONOS control channel</a:t>
            </a:r>
            <a:br/>
            <a:r>
              <a:t>11 benign · 33 attack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9397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46888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OpenFlow 1.3 parser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stats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1421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38912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Window labels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from InSDN CSV flow IDs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3445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30936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22 features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per 1 to 5 s window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5469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22960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History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88 model inputs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7493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01498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Models + baselines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10 seeds · 95% CI · trivial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B · LIVE  (our testbed, no InSDN data)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Ryu app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3 forwarding modes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9397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Mininet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 or 3 switches</a:t>
            </a:r>
            <a:br/>
            <a:r>
              <a:t>benign traffic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1421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38912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Control pcap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one per run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3445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30936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Counts per mode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entries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5469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22960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Stock Ryu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second controller, 5 runs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C · 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166360"/>
            <a:ext cx="1110996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results/*.json  →  tables and figures  →  paper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checked by compare_results.py (tolerance 1e-6) and verify_numbers.py · every capture SHA-256 hashed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904219" y="2834640"/>
            <a:ext cx="0" cy="228600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983980" y="4572000"/>
            <a:ext cx="0" cy="54864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OBSERVABILITY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The controller never saw the labelled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B91C1C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in the 44 captures match IP addresses or transport ports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035040" y="173736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50292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FlowMods by match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Ryu's stock learning switch agrees: 91 FlowMods in 5 captures, none with IP or transport fields. The dataset's 5-tuple flows are not counters a controller can read.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REPRODUCIBLE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2 · A pipeline from raw captures to labelled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52160" y="1645920"/>
          <a:ext cx="57607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52160" y="56692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Attack-labelled 1 s windows per family (strict labels)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OpenFlow 1.3 parser with reported parser loss.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Window labels grounded in InSDN's own flow labels.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22 controller-observable features, up to 88 inputs with history.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which matters on the next slides.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3 · Controller-side models score high (0.95)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4008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 on unseen captures, 1 s windows, 10 seeds, 95%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0F766E"/>
                </a:solidFill>
                <a:latin typeface="Calibri"/>
              </a:defRPr>
            </a:pPr>
            <a:r>
              <a:t>0.89 to 1.00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78892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MLP balanced accuracy on each of six withheld attack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749039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Logistic regression matches the neural network.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Offered as feasibility, not as a detector.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4 · A one-line rule matches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0350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accuracy, strict labels, 1 s windows (rule: inside attack sessions)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828800"/>
            <a:ext cx="46634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The rule scores 0.995 (1 s) and 1.000 (5 s) with no learning.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InSDN records benign and attack traffic in separate sessions, so a score can reflect the session, not the attack.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We do not claim a detector. We report a validity threat for controller-side evaluation on InSDN.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Fix: benign and attack traffic interleaved in one session.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FORWARDING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The forwarding app sets what the controller observes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60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TCP PacketIns per run, log scale, 10 runs per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7373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0F766E"/>
                </a:solidFill>
                <a:latin typeface="Calibri"/>
              </a:defRPr>
            </a:pPr>
            <a:r>
              <a:t>847×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6974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more PacketIns with per-flow rules on identical traffic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6616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A 2 s idle timeout cuts the entries a 1 s poller sees from 153 to 37 per reply.</a:t>
            </a:r>
          </a:p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Our first app let ping/ARP rules shadow TCP and showed 4×. We report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6 · A second controller and a rerunnable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0F766E"/>
                </a:solidFill>
                <a:latin typeface="Calibri"/>
              </a:defRPr>
            </a:pPr>
            <a: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from Ryu's unmodified simple_switch_13 in 5 captures: MAC pairs and table-miss only, no IP or 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3736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Hashed captures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SHA-256 for every pcap used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8892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One command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reproduce.sh rebuilds every 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840479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Automatic comparison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compare_results.py, tolerance 1e-6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489204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Number check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verify_numbers.py on the paper 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SPLIT-PROTOCOL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Random splits inflate scores: 9 points (InSDN), 35 (CICIDS2017)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accuracy, GPU XGBoost, 10 seeds, benign vs attack. 343,889 / 2,100,814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645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B91C1C"/>
                </a:solidFill>
                <a:latin typeface="Calibri"/>
              </a:defRPr>
            </a:pPr>
            <a:r>
              <a:t>49% /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60604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of random-split test rows are exact duplicates of a training row (InSDN / CICIDS2017)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657600"/>
            <a:ext cx="3840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Held-out hosts: 0.907 ± 0.085 (InSDN, worst seed 0.66), 0.641 ± 0.056 (CICIDS2017).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Identifiers alone reach 1.000 on both, so a random split rewards memorising hosts.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Known already: Engelen 2021, Flood 2024. New: the paired gap with CIs on an SDN dataset.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PROTOCOL AUDIT OF THE LITERATURE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Published papers rarely describe their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2743200"/>
                <a:gridCol w="1828800"/>
                <a:gridCol w="25603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Reported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Split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Grouped by host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IDs / ports as inputs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Towhid et al.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RF 98.84%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70:30, all flows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Ataa et al. 2024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99.02%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described (shuffled)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 (stated)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OptiXGB-IDS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99.87%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80:20 random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Ports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PeerJ CS 2025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99.93%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train_test_split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Sajid et al. 2025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99.98%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described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Dst 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SDNGuardStack 2026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99.98%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80/20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Flow ID, IPs, ports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Malik et al.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81.60% (CV)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Stratified 5-fold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LightIDS-SDN 2026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98.73%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Ratios 60:40 to 90:10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SICA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99.61%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70/20/10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 (stated)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Ten papers read in full; most do not describe their split; none reports a host-grouped one. Table: the read papers that use InSDN; numbers are the authors' own, not re-run.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RECIPE REPLICATION ON INSDN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Published feature recipes, two splits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71323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235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8-class accuracy, GPU XGBoost, 80:20, 10 seeds, 343,889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3736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Random split: at least 0.999 for every recipe.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Held-out hosts: 0.69 to 0.84, with 95% CIs of ±0.18 to ±0.24.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Adding ports lowers the held-out-host score (0.79 to 0.69) while the random-split score rises.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Caveat: one classifier (XGBoost) and approximate recipes of the published feature choices, not the papers' models or code. Grouping by source host is a stress test, not a deployment estimate.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HOST STRUCTURE AND LEAVE-ONE-HOST-OUT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Held-out attacker hosts are poorly detected, on both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6B7280"/>
                </a:solidFill>
                <a:latin typeface="Calibri"/>
              </a:defRPr>
            </a:pPr>
            <a:r>
              <a:t>122,868 source IPs, 122,307 with a single flow; 8 hosts with 500 or more flows hold 215,404 of 343,889 rows.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783080"/>
          <a:ext cx="67665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6B7280"/>
                </a:solidFill>
                <a:latin typeface="Calibri"/>
              </a:defRPr>
            </a:pPr>
            <a:r>
              <a:t>Train on all other hosts, test on the held-out host. Green bars: attack recall; grey: benign false-positive rate; red: weak held-out host.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8308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766E"/>
                </a:solidFill>
                <a:latin typeface="Calibri"/>
              </a:defRPr>
            </a:pPr>
            <a:r>
              <a:t>CICIDS2017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14884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48 source IPs, 19 with a single flow; 15 hosts hold nearly all 2,100,814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92608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800" b="1">
                <a:solidFill>
                  <a:srgbClr val="B91C1C"/>
                </a:solidFill>
                <a:latin typeface="Calibri"/>
              </a:defRPr>
            </a:pPr>
            <a:r>
              <a:t>0.28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8862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attack recall when the main attacker 172.16.0.1 is held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5720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111827"/>
                </a:solidFill>
                <a:latin typeface="Calibri"/>
              </a:defRPr>
            </a:pPr>
            <a:r>
              <a:t>0.54 of its benign flows are flagged. Training on all other hosts, XGBoost; identical across 10 model seeds.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PARTIAL 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SDNGuardStack fails on unseen hosts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0F766E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74519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11827"/>
                </a:solidFill>
                <a:latin typeface="Calibri"/>
              </a:defRPr>
            </a:pPr>
            <a:r>
              <a:t>Random split, our approximation (paper reports 99.98%)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7180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B91C1C"/>
                </a:solidFill>
                <a:latin typeface="Calibri"/>
              </a:defRPr>
            </a:pPr>
            <a:r>
              <a:t>0.72 to 0.78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10896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11827"/>
                </a:solidFill>
                <a:latin typeface="Calibri"/>
              </a:defRPr>
            </a:pPr>
            <a:r>
              <a:t>Source-IP grouped split, two training variants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9CA3AF"/>
                </a:solidFill>
                <a:latin typeface="Calibri"/>
              </a:defRPr>
            </a:pPr>
            <a:r>
              <a:t>±0.39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34340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11827"/>
                </a:solidFill>
                <a:latin typeface="Calibri"/>
              </a:defRPr>
            </a:pPr>
            <a:r>
              <a:t>Largest 95% CI across seeds on the grouped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6B7280"/>
                </a:solidFill>
                <a:latin typeface="Calibri"/>
              </a:defRPr>
            </a:pPr>
            <a:r>
              <a:t>Partial replication: 5 seeds, an approximation of the paper's model and features, not its code. Grouping by host is a stress test, not a deployment estimate.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Duplicates and class absence do not explain the drop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InSDN balanced accuracy, XGBoost, 10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828800"/>
            <a:ext cx="3840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Removing exact duplicates (46% of rows) leaves the random split at 0.9998.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Keeping only splits where every attack class is in training still gives 0.939 (CI ±0.06).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Class-covered and deduplicated: wide CI, so we report it as a stress test.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Pipeline: data, controller view, split protocols,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468880" cy="173736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600" b="1">
                <a:solidFill>
                  <a:srgbClr val="111827"/>
                </a:solidFill>
                <a:latin typeface="Calibri"/>
              </a:defRPr>
            </a:pPr>
            <a:r>
              <a:t>Data</a:t>
            </a:r>
          </a:p>
          <a:p>
            <a:pPr algn="ctr">
              <a:defRPr sz="1200">
                <a:solidFill>
                  <a:srgbClr val="6B7280"/>
                </a:solidFill>
                <a:latin typeface="Calibri"/>
              </a:defRPr>
            </a:pPr>
            <a:r>
              <a:t>InSDN CSV + 44 ONOS pcaps</a:t>
            </a:r>
            <a:br/>
            <a:r>
              <a:t>CICIDS2017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4096" y="306324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29000" y="2194560"/>
            <a:ext cx="2468880" cy="173736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600" b="1">
                <a:solidFill>
                  <a:srgbClr val="111827"/>
                </a:solidFill>
                <a:latin typeface="Calibri"/>
              </a:defRPr>
            </a:pPr>
            <a:r>
              <a:t>Features / telemetry</a:t>
            </a:r>
          </a:p>
          <a:p>
            <a:pPr algn="ctr">
              <a:defRPr sz="1200">
                <a:solidFill>
                  <a:srgbClr val="6B7280"/>
                </a:solidFill>
                <a:latin typeface="Calibri"/>
              </a:defRPr>
            </a:pPr>
            <a:r>
              <a:t>CICFlowMeter flow records</a:t>
            </a:r>
            <a:br/>
            <a:r>
              <a:t>controller-visible OpenFlow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4456" y="3063240"/>
            <a:ext cx="338327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309359" y="2194560"/>
            <a:ext cx="2468880" cy="173736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600" b="1">
                <a:solidFill>
                  <a:srgbClr val="111827"/>
                </a:solidFill>
                <a:latin typeface="Calibri"/>
              </a:defRPr>
            </a:pPr>
            <a:r>
              <a:t>Split protocols</a:t>
            </a:r>
          </a:p>
          <a:p>
            <a:pPr algn="ctr">
              <a:defRPr sz="1200">
                <a:solidFill>
                  <a:srgbClr val="6B7280"/>
                </a:solidFill>
                <a:latin typeface="Calibri"/>
              </a:defRPr>
            </a:pPr>
            <a:r>
              <a:t>random flow split</a:t>
            </a:r>
            <a:br/>
            <a:r>
              <a:t>held-out source hosts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14816" y="306324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189719" y="2194560"/>
            <a:ext cx="2468880" cy="173736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600" b="1">
                <a:solidFill>
                  <a:srgbClr val="111827"/>
                </a:solidFill>
                <a:latin typeface="Calibri"/>
              </a:defRPr>
            </a:pPr>
            <a:r>
              <a:t>Audit</a:t>
            </a:r>
          </a:p>
          <a:p>
            <a:pPr algn="ctr">
              <a:defRPr sz="1200">
                <a:solidFill>
                  <a:srgbClr val="6B7280"/>
                </a:solidFill>
                <a:latin typeface="Calibri"/>
              </a:defRPr>
            </a:pPr>
            <a:r>
              <a:t>controls, leave-one-host-out,</a:t>
            </a:r>
            <a:br/>
            <a:r>
              <a:t>literature, replication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7200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Every number comes from results/*.json, 10 seeds with 95% CIs; captures are SHA-256 hashed and the results rerun from one script.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Conclusion: what the paper defends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111827"/>
                </a:solidFill>
                <a:latin typeface="Calibri"/>
              </a:defRPr>
            </a:pPr>
            <a:r>
              <a:t>A controller cannot read the dataset's 5-tuple flows: 0 of 3,827 FlowMods match IPs or ports.</a:t>
            </a:r>
          </a:p>
          <a:p>
            <a:pPr>
              <a:spcAft>
                <a:spcPts val="1800"/>
              </a:spcAft>
              <a:defRPr sz="2000">
                <a:solidFill>
                  <a:srgbClr val="111827"/>
                </a:solidFill>
                <a:latin typeface="Calibri"/>
              </a:defRPr>
            </a:pPr>
            <a:r>
              <a:t>Controller-side scores on InSDN are a validity threat, not detection accuracy.</a:t>
            </a:r>
          </a:p>
          <a:p>
            <a:pPr>
              <a:spcAft>
                <a:spcPts val="1800"/>
              </a:spcAft>
              <a:defRPr sz="2000">
                <a:solidFill>
                  <a:srgbClr val="111827"/>
                </a:solidFill>
                <a:latin typeface="Calibri"/>
              </a:defRPr>
            </a:pPr>
            <a:r>
              <a:t>Random splits inflate scores on InSDN and CICIDS2017; held-out hosts expose it.</a:t>
            </a:r>
          </a:p>
          <a:p>
            <a:pPr>
              <a:spcAft>
                <a:spcPts val="1800"/>
              </a:spcAft>
              <a:defRPr sz="2000">
                <a:solidFill>
                  <a:srgbClr val="111827"/>
                </a:solidFill>
                <a:latin typeface="Calibri"/>
              </a:defRPr>
            </a:pPr>
            <a:r>
              <a:t>Neither duplicates nor class absence alone explains the gap.</a:t>
            </a:r>
          </a:p>
          <a:p>
            <a:pPr>
              <a:spcAft>
                <a:spcPts val="1800"/>
              </a:spcAft>
              <a:defRPr sz="2000">
                <a:solidFill>
                  <a:srgbClr val="111827"/>
                </a:solidFill>
                <a:latin typeface="Calibri"/>
              </a:defRPr>
            </a:pPr>
            <a:r>
              <a:t>Report host-grouped splits with CIs; state the split.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We defend the measurement and the protocol, not a new detector.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Limitations we state ourselves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Controller study: one dataset (InSDN) and one recorded controller (ONOS); Ryu is checked only on our own benign traffic.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We generated no attack traffic; benign and attack are never interleaved in one session.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so session identity and unlisted attacks cannot be separated.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Literature check: ten papers read in full; reported numbers are the authors' own, not re-run.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The split audit covers two datasets, one model family (XGBoost) and binary labels; UKMDDoSDN has no benign class and was unusable.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Our literature search (October 2026) is evidence, not proof, that no one has measured this on an SDN dataset.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Contributions: what is new and what is already known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6B7280"/>
                </a:solidFill>
                <a:latin typeface="Calibri"/>
              </a:defRPr>
            </a:pPr>
            <a:r>
              <a:t>Already known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5303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Identifier columns are shortcut features (Engelen 2021)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Random splits leak on NIDS data (Flood 2024)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Control-plane telemetry datasets exist (LAN-SDN-NIDS)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7373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766E"/>
                </a:solidFill>
                <a:latin typeface="Calibri"/>
              </a:defRPr>
            </a:pPr>
            <a:r>
              <a:t>New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377440"/>
            <a:ext cx="5303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Controller-telemetry gap inside InSDN: 0 FlowMods match IPs or ports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Paired random vs host-held-out gap on InSDN and CICIDS2017, 10 seeds, CIs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Host structure and leave-one-host-out detection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Ten published papers read in full; none host-grouped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6B7280"/>
                </a:solidFill>
                <a:latin typeface="Calibri"/>
              </a:defRPr>
            </a:pPr>
            <a:r>
              <a:t>Not claimed: a new detector, or results on a second SDN dataset or controller family.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