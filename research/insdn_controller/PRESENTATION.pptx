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InSDN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CICIDS2017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0.991693753140841</c:v>
                </c:pt>
                <c:pt idx="1">
                  <c:v>0.6407584964613721</c:v>
                </c:pt>
                <c:pt idx="2">
                  <c:v>0.9999171559257845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Random split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0.9991407136002792</c:v>
                </c:pt>
                <c:pt idx="1">
                  <c:v>0.9998342493239116</c:v>
                </c:pt>
                <c:pt idx="2">
                  <c:v>0.999922940475152</c:v>
                </c:pt>
                <c:pt idx="3">
                  <c:v>0.9998982232690686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source hosts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0.7877265798306605</c:v>
                </c:pt>
                <c:pt idx="1">
                  <c:v>0.6869505545011194</c:v>
                </c:pt>
                <c:pt idx="2">
                  <c:v>0.8037272416576785</c:v>
                </c:pt>
                <c:pt idx="3">
                  <c:v>0.8351672108611826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Held-out host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B91C1C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B91C1C"/>
              </a:solidFill>
            </c:spPr>
          </c:dPt>
          <c:dPt>
            <c:idx val="4"/>
            <c:spPr>
              <a:solidFill>
                <a:srgbClr val="9CA3AF"/>
              </a:solidFill>
            </c:spPr>
          </c:dPt>
          <c:dPt>
            <c:idx val="5"/>
            <c:spPr>
              <a:solidFill>
                <a:srgbClr val="9CA3AF"/>
              </a:solidFill>
            </c:spPr>
          </c:dPt>
          <c:dPt>
            <c:idx val="6"/>
            <c:spPr>
              <a:solidFill>
                <a:srgbClr val="9CA3AF"/>
              </a:solidFill>
            </c:spPr>
          </c:dPt>
          <c:dPt>
            <c:idx val="7"/>
            <c:spPr>
              <a:solidFill>
                <a:srgbClr val="9CA3AF"/>
              </a:solidFill>
            </c:spPr>
          </c:dPt>
          <c:dPt>
            <c:idx val="8"/>
            <c:spPr>
              <a:solidFill>
                <a:srgbClr val="9CA3AF"/>
              </a:solidFill>
            </c:spPr>
          </c:dPt>
          <c:cat>
            <c:strRef>
              <c:f>Sheet1!$A$2:$A$10</c:f>
              <c:strCache>
                <c:ptCount val="9"/>
                <c:pt idx="0">
                  <c:v>200.175.2.130 (attack recall)</c:v>
                </c:pt>
                <c:pt idx="1">
                  <c:v>192.168.3.130 (attack recall)</c:v>
                </c:pt>
                <c:pt idx="2">
                  <c:v>192.168.20.134 (attack recall)</c:v>
                </c:pt>
                <c:pt idx="3">
                  <c:v>192.168.20.133 (benign FPR)</c:v>
                </c:pt>
                <c:pt idx="4">
                  <c:v>192.168.3.130 (benign FPR)</c:v>
                </c:pt>
                <c:pt idx="5">
                  <c:v>185.127.17.56 (benign FPR)</c:v>
                </c:pt>
                <c:pt idx="6">
                  <c:v>192.168.20.2 (benign FPR)</c:v>
                </c:pt>
                <c:pt idx="7">
                  <c:v>192.168.20.1 (benign FPR)</c:v>
                </c:pt>
                <c:pt idx="8">
                  <c:v>74.125.168.10 (benign FPR)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0.5162320959575447</c:v>
                </c:pt>
                <c:pt idx="1">
                  <c:v>0.9968684759916493</c:v>
                </c:pt>
                <c:pt idx="2">
                  <c:v>0.9380375293197811</c:v>
                </c:pt>
                <c:pt idx="3">
                  <c:v>0.37891801450083656</c:v>
                </c:pt>
                <c:pt idx="4">
                  <c:v>0.8333333333333334</c:v>
                </c:pt>
                <c:pt idx="5">
                  <c:v>0.0</c:v>
                </c:pt>
                <c:pt idx="6">
                  <c:v>0.0</c:v>
                </c:pt>
                <c:pt idx="7">
                  <c:v>0.18823529411764706</c:v>
                </c:pt>
                <c:pt idx="8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200" b="1">
                <a:solidFill>
                  <a:srgbClr val="111827"/>
                </a:solidFill>
                <a:latin typeface="Calibri"/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Split audit on InSDN and CICIDS2017, and a full read of 10 papers, 9 on InSDN (slides 13 to 16)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5 · The forwarding app sets the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Random splits inflate scores: 9 points on InSDN, 35 on CICIDS2017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GPU XGBoost, 10 seeds, benign vs attack. 343,889 / 2,100,814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49% /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of random-split test rows are exact duplicates of a training row (InSDN / CICIDS2017)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6576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Held-out hosts: 0.907 ± 0.085 (InSDN, worst seed 0.66), 0.641 ± 0.056 (CICIDS2017).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Identifiers alone reach 1.000 on both, so a random split rewards memorising hosts.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Known already: Engelen 2021, Flood 2024. New: the paired gap with CIs on an SDN dataset.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PROTOCOL AUDIT OF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What published InSDN papers report vs how they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743200"/>
                <a:gridCol w="1828800"/>
                <a:gridCol w="25603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Grouped by host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IDs / ports as inputs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Towhid et al.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RF 98.84%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70:30, all flows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Ataa et al. 2024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99.02%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 (shuffled)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OptiXGB-IDS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99.87%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80:20 random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Ports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PeerJ CS 2025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train_test_split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Sajid et al.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Dst 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SDNGuardStack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80/20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Flow ID, IPs, ports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Malik et al.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81.60% (CV)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Stratified 5-fold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LightIDS-SDN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98.73%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Ratios 60:40 to 90:10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SICA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99.61%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70/20/10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10 of 12 papers read in full; the 2 unread ones are not characterised. Table: the 9 read papers that use InSDN (one more read paper is not on InSDN). Numbers are the authors' own, not re-run. None groups by host; none evaluates a real controller.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RECIPE REPLICATION ON INSDN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feature recipes, two splits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71323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8-class accuracy, GPU XGBoost, 80:20, 10 seeds, 343,889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Random split: at least 0.999 for every recipe.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Held-out hosts: 0.69 to 0.84, with 95% CIs of ±0.18 to ±0.24.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Adding ports lowers the held-out-host score (0.79 to 0.69) while the random-split score rises.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Caveat: one classifier (XGBoost) and approximate recipes of the published feature choices, not the papers' models or code. Grouping by source host is a stress test, not a deployment estimate.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HOST STRUCTURE AND LEAVE-ONE-HOST-OUT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Only about 3 attacker hosts: held-out-host detection collapses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122,868 source IPs, 122,307 with a single flow; 8 hosts with 500 or more flows hold 215,404 of 343,889 rows.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83080"/>
          <a:ext cx="67665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Train on all other hosts, test on the held-out host. Teal: attack recall; grey: benign false-positive rate; red: highlighted.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Duplicates are not the mechanism: dropping 46% exact duplicates leaves random-split BAcc at 0.9998.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766E"/>
                </a:solidFill>
                <a:latin typeface="Calibri"/>
              </a:defRPr>
            </a:pPr>
            <a:r>
              <a:t>SDNGuardStack approximation (5 seeds)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1546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766E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322783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Random split (reported 99.98%)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8404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B91C1C"/>
                </a:solidFill>
                <a:latin typeface="Calibri"/>
              </a:defRPr>
            </a:pPr>
            <a:r>
              <a:t>0.72 to 0.78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391363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Source-IP grouped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526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9CA3AF"/>
                </a:solidFill>
                <a:latin typeface="Calibri"/>
              </a:defRPr>
            </a:pPr>
            <a:r>
              <a:t>±0.39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59943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Largest 95% CI, grouped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Reproduces under its own protocol; does not hold for unseen hosts.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Controller study: 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Literature check: 10 of 12 papers read in full; the rest are not characterised. Reported numbers are the authors' own.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The split audit covers two datasets, one model family (XGBoost) and binary labels; UKMDDoSDN has no benign class and was unusable.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Phase 1 figures come from archived studies and are not re-run here.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 (October 2026) is evidence, not proof, that no one has measured this on an SDN dataset.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NOVELTY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Contributions: what is new and what is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B7280"/>
                </a:solidFill>
                <a:latin typeface="Calibri"/>
              </a:defRPr>
            </a:pPr>
            <a:r>
              <a:t>Already known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 columns are shortcut features (Engelen 2021)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Random splits leak on NIDS data (Flood 2024)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Control-plane telemetry for SDN IDS (LAN-SDN-NIDS, SDNFLow)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766E"/>
                </a:solidFill>
                <a:latin typeface="Calibri"/>
              </a:defRPr>
            </a:pPr>
            <a:r>
              <a:t>New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Paired random vs host-held-out gap on InSDN and CICIDS2017, 10 seeds, CIs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Audit of 9 published InSDN papers: none groups by host, none uses a real controller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Published feature recipes on InSDN: ~0.999 random vs 0.69 to 0.84 held-out hosts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Host structure and leave-one-host-out: about 3 attacker hosts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Controller-telemetry gap: 0 FlowMods with IPs or 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B91C1C"/>
                </a:solidFill>
                <a:latin typeface="Calibri"/>
              </a:defRPr>
            </a:pPr>
            <a:r>
              <a:t>Not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Interleaved benign and attack traffic in one session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A second SDN dataset or controller family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Unread InSDN papers not characterised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Random-split scores on InSDN do not measure detection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What a controller sees depends on the forwarding app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On InSDN, controller-side scores are not detection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